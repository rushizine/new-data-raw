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8.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id="{C7B97026-329D-EFB3-F0D6-7F9BA9421EF3}">
          <p14:sldIdLst>
            <p14:sldId id="256"/>
            <p14:sldId id="257"/>
          </p14:sldIdLst>
        </p14:section>
        <p14:section name="Analysis" id="{3B6FE988-8BF0-1B4E-A39F-4FEE57921D02}">
          <p14:sldIdLst>
            <p14:sldId id="258"/>
            <p14:sldId id="259"/>
            <p14:sldId id="260"/>
          </p14:sldIdLst>
        </p14:section>
        <p14:section name="Power BI" id="{47ACC956-26D0-D31B-438B-30B501FD1B4E}">
          <p14:sldIdLst>
            <p14:sldId id="261"/>
            <p14:sldId id="262"/>
            <p14:sldId id="263"/>
          </p14:sldIdLst>
        </p14:section>
        <p14:section name="Conclusion" id="{7D0A90F7-780A-D289-B1A6-721EE7AD0058}">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spPr>
            <a:ln w="31750" cap="flat">
              <a:solidFill>
                <a:srgbClr val="1C7293"/>
              </a:solidFill>
              <a:prstDash val="solid"/>
              <a:round/>
            </a:ln>
            <a:effectLst/>
          </c:spPr>
          <c:marker>
            <c:symbol val="none"/>
          </c:marker>
          <c:cat>
            <c:strRef>
              <c:f>Sheet1!$A$2:$A$37</c:f>
              <c:strCache>
                <c:ptCount val="36"/>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strCache>
            </c:strRef>
          </c:cat>
          <c:val>
            <c:numRef>
              <c:f>Sheet1!$B$2:$B$37</c:f>
              <c:numCache>
                <c:formatCode>General</c:formatCode>
                <c:ptCount val="36"/>
                <c:pt idx="0">
                  <c:v>15.4</c:v>
                </c:pt>
                <c:pt idx="1">
                  <c:v>20</c:v>
                </c:pt>
                <c:pt idx="2">
                  <c:v>21.1</c:v>
                </c:pt>
                <c:pt idx="3">
                  <c:v>33.700000000000003</c:v>
                </c:pt>
                <c:pt idx="4">
                  <c:v>21.4</c:v>
                </c:pt>
                <c:pt idx="5">
                  <c:v>17.7</c:v>
                </c:pt>
                <c:pt idx="6">
                  <c:v>25.6</c:v>
                </c:pt>
                <c:pt idx="7">
                  <c:v>32.1</c:v>
                </c:pt>
                <c:pt idx="8">
                  <c:v>29.6</c:v>
                </c:pt>
                <c:pt idx="9">
                  <c:v>36.9</c:v>
                </c:pt>
                <c:pt idx="10">
                  <c:v>37.299999999999997</c:v>
                </c:pt>
                <c:pt idx="11">
                  <c:v>28.6</c:v>
                </c:pt>
                <c:pt idx="12">
                  <c:v>27.3</c:v>
                </c:pt>
                <c:pt idx="13">
                  <c:v>24.9</c:v>
                </c:pt>
                <c:pt idx="14">
                  <c:v>23.4</c:v>
                </c:pt>
                <c:pt idx="15">
                  <c:v>22.1</c:v>
                </c:pt>
                <c:pt idx="16">
                  <c:v>32.4</c:v>
                </c:pt>
                <c:pt idx="17">
                  <c:v>31.8</c:v>
                </c:pt>
                <c:pt idx="18">
                  <c:v>34.299999999999997</c:v>
                </c:pt>
                <c:pt idx="19">
                  <c:v>35.200000000000003</c:v>
                </c:pt>
                <c:pt idx="20">
                  <c:v>38.299999999999997</c:v>
                </c:pt>
                <c:pt idx="21">
                  <c:v>35</c:v>
                </c:pt>
                <c:pt idx="22">
                  <c:v>56.8</c:v>
                </c:pt>
                <c:pt idx="23">
                  <c:v>52.8</c:v>
                </c:pt>
                <c:pt idx="24">
                  <c:v>36.6</c:v>
                </c:pt>
                <c:pt idx="25">
                  <c:v>25.3</c:v>
                </c:pt>
                <c:pt idx="26">
                  <c:v>49</c:v>
                </c:pt>
                <c:pt idx="27">
                  <c:v>36.700000000000003</c:v>
                </c:pt>
                <c:pt idx="28">
                  <c:v>47.2</c:v>
                </c:pt>
                <c:pt idx="29">
                  <c:v>29</c:v>
                </c:pt>
                <c:pt idx="30">
                  <c:v>37.5</c:v>
                </c:pt>
                <c:pt idx="31">
                  <c:v>47.6</c:v>
                </c:pt>
                <c:pt idx="32">
                  <c:v>43.9</c:v>
                </c:pt>
                <c:pt idx="33">
                  <c:v>48.7</c:v>
                </c:pt>
                <c:pt idx="34">
                  <c:v>61</c:v>
                </c:pt>
                <c:pt idx="35">
                  <c:v>80.7</c:v>
                </c:pt>
              </c:numCache>
            </c:numRef>
          </c:val>
          <c:smooth val="0"/>
          <c:extLst>
            <c:ext xmlns:c16="http://schemas.microsoft.com/office/drawing/2014/chart" uri="{C3380CC4-5D6E-409C-BE32-E72D297353CC}">
              <c16:uniqueId val="{00000000-6E32-4846-95BA-D36B7D4BC98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CA70-49FA-82E2-41F97162E28C}"/>
              </c:ext>
            </c:extLst>
          </c:dPt>
          <c:dPt>
            <c:idx val="1"/>
            <c:invertIfNegative val="0"/>
            <c:bubble3D val="0"/>
            <c:extLst>
              <c:ext xmlns:c16="http://schemas.microsoft.com/office/drawing/2014/chart" uri="{C3380CC4-5D6E-409C-BE32-E72D297353CC}">
                <c16:uniqueId val="{00000003-CA70-49FA-82E2-41F97162E28C}"/>
              </c:ext>
            </c:extLst>
          </c:dPt>
          <c:dPt>
            <c:idx val="2"/>
            <c:invertIfNegative val="0"/>
            <c:bubble3D val="0"/>
            <c:spPr>
              <a:solidFill>
                <a:srgbClr val="D64545"/>
              </a:solidFill>
              <a:effectLst/>
            </c:spPr>
            <c:extLst>
              <c:ext xmlns:c16="http://schemas.microsoft.com/office/drawing/2014/chart" uri="{C3380CC4-5D6E-409C-BE32-E72D297353CC}">
                <c16:uniqueId val="{00000005-CA70-49FA-82E2-41F97162E28C}"/>
              </c:ext>
            </c:extLst>
          </c:dPt>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Technology</c:v>
                </c:pt>
                <c:pt idx="1">
                  <c:v>Office Supplies</c:v>
                </c:pt>
                <c:pt idx="2">
                  <c:v>Furniture</c:v>
                </c:pt>
              </c:strCache>
            </c:strRef>
          </c:cat>
          <c:val>
            <c:numRef>
              <c:f>Sheet1!$B$2:$B$4</c:f>
              <c:numCache>
                <c:formatCode>General</c:formatCode>
                <c:ptCount val="3"/>
                <c:pt idx="0">
                  <c:v>15.43</c:v>
                </c:pt>
                <c:pt idx="1">
                  <c:v>18.989999999999998</c:v>
                </c:pt>
                <c:pt idx="2">
                  <c:v>-0.04</c:v>
                </c:pt>
              </c:numCache>
            </c:numRef>
          </c:val>
          <c:extLst>
            <c:ext xmlns:c16="http://schemas.microsoft.com/office/drawing/2014/chart" uri="{C3380CC4-5D6E-409C-BE32-E72D297353CC}">
              <c16:uniqueId val="{00000006-CA70-49FA-82E2-41F97162E2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EDDC-4AB3-9DF9-ACCE5D8743A3}"/>
              </c:ext>
            </c:extLst>
          </c:dPt>
          <c:dPt>
            <c:idx val="1"/>
            <c:invertIfNegative val="0"/>
            <c:bubble3D val="0"/>
            <c:extLst>
              <c:ext xmlns:c16="http://schemas.microsoft.com/office/drawing/2014/chart" uri="{C3380CC4-5D6E-409C-BE32-E72D297353CC}">
                <c16:uniqueId val="{00000003-EDDC-4AB3-9DF9-ACCE5D8743A3}"/>
              </c:ext>
            </c:extLst>
          </c:dPt>
          <c:dPt>
            <c:idx val="2"/>
            <c:invertIfNegative val="0"/>
            <c:bubble3D val="0"/>
            <c:extLst>
              <c:ext xmlns:c16="http://schemas.microsoft.com/office/drawing/2014/chart" uri="{C3380CC4-5D6E-409C-BE32-E72D297353CC}">
                <c16:uniqueId val="{00000005-EDDC-4AB3-9DF9-ACCE5D8743A3}"/>
              </c:ext>
            </c:extLst>
          </c:dPt>
          <c:dPt>
            <c:idx val="3"/>
            <c:invertIfNegative val="0"/>
            <c:bubble3D val="0"/>
            <c:extLst>
              <c:ext xmlns:c16="http://schemas.microsoft.com/office/drawing/2014/chart" uri="{C3380CC4-5D6E-409C-BE32-E72D297353CC}">
                <c16:uniqueId val="{00000007-EDDC-4AB3-9DF9-ACCE5D8743A3}"/>
              </c:ext>
            </c:extLst>
          </c:dPt>
          <c:dPt>
            <c:idx val="4"/>
            <c:invertIfNegative val="0"/>
            <c:bubble3D val="0"/>
            <c:extLst>
              <c:ext xmlns:c16="http://schemas.microsoft.com/office/drawing/2014/chart" uri="{C3380CC4-5D6E-409C-BE32-E72D297353CC}">
                <c16:uniqueId val="{00000009-EDDC-4AB3-9DF9-ACCE5D8743A3}"/>
              </c:ext>
            </c:extLst>
          </c:dPt>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South</c:v>
                </c:pt>
                <c:pt idx="1">
                  <c:v>West</c:v>
                </c:pt>
                <c:pt idx="2">
                  <c:v>North</c:v>
                </c:pt>
                <c:pt idx="3">
                  <c:v>Central</c:v>
                </c:pt>
                <c:pt idx="4">
                  <c:v>East</c:v>
                </c:pt>
              </c:strCache>
            </c:strRef>
          </c:cat>
          <c:val>
            <c:numRef>
              <c:f>Sheet1!$B$2:$B$6</c:f>
              <c:numCache>
                <c:formatCode>General</c:formatCode>
                <c:ptCount val="5"/>
                <c:pt idx="0">
                  <c:v>13.5</c:v>
                </c:pt>
                <c:pt idx="1">
                  <c:v>10.9</c:v>
                </c:pt>
                <c:pt idx="2">
                  <c:v>13.7</c:v>
                </c:pt>
                <c:pt idx="3">
                  <c:v>13.3</c:v>
                </c:pt>
                <c:pt idx="4">
                  <c:v>13.6</c:v>
                </c:pt>
              </c:numCache>
            </c:numRef>
          </c:val>
          <c:extLst>
            <c:ext xmlns:c16="http://schemas.microsoft.com/office/drawing/2014/chart" uri="{C3380CC4-5D6E-409C-BE32-E72D297353CC}">
              <c16:uniqueId val="{0000000A-EDDC-4AB3-9DF9-ACCE5D8743A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Margin %</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C808-45AF-AF0B-335C640F1CA4}"/>
              </c:ext>
            </c:extLst>
          </c:dPt>
          <c:dPt>
            <c:idx val="1"/>
            <c:invertIfNegative val="0"/>
            <c:bubble3D val="0"/>
            <c:extLst>
              <c:ext xmlns:c16="http://schemas.microsoft.com/office/drawing/2014/chart" uri="{C3380CC4-5D6E-409C-BE32-E72D297353CC}">
                <c16:uniqueId val="{00000003-C808-45AF-AF0B-335C640F1CA4}"/>
              </c:ext>
            </c:extLst>
          </c:dPt>
          <c:dPt>
            <c:idx val="2"/>
            <c:invertIfNegative val="0"/>
            <c:bubble3D val="0"/>
            <c:extLst>
              <c:ext xmlns:c16="http://schemas.microsoft.com/office/drawing/2014/chart" uri="{C3380CC4-5D6E-409C-BE32-E72D297353CC}">
                <c16:uniqueId val="{00000005-C808-45AF-AF0B-335C640F1CA4}"/>
              </c:ext>
            </c:extLst>
          </c:dPt>
          <c:dPt>
            <c:idx val="3"/>
            <c:invertIfNegative val="0"/>
            <c:bubble3D val="0"/>
            <c:spPr>
              <a:solidFill>
                <a:srgbClr val="D64545"/>
              </a:solidFill>
              <a:effectLst/>
            </c:spPr>
            <c:extLst>
              <c:ext xmlns:c16="http://schemas.microsoft.com/office/drawing/2014/chart" uri="{C3380CC4-5D6E-409C-BE32-E72D297353CC}">
                <c16:uniqueId val="{00000007-C808-45AF-AF0B-335C640F1CA4}"/>
              </c:ext>
            </c:extLst>
          </c:dPt>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discount</c:v>
                </c:pt>
                <c:pt idx="1">
                  <c:v>Up to 10%</c:v>
                </c:pt>
                <c:pt idx="2">
                  <c:v>11-20%</c:v>
                </c:pt>
                <c:pt idx="3">
                  <c:v>Above 20%</c:v>
                </c:pt>
              </c:strCache>
            </c:strRef>
          </c:cat>
          <c:val>
            <c:numRef>
              <c:f>Sheet1!$B$2:$B$5</c:f>
              <c:numCache>
                <c:formatCode>General</c:formatCode>
                <c:ptCount val="4"/>
                <c:pt idx="0">
                  <c:v>23.9</c:v>
                </c:pt>
                <c:pt idx="1">
                  <c:v>17</c:v>
                </c:pt>
                <c:pt idx="2">
                  <c:v>4.5</c:v>
                </c:pt>
                <c:pt idx="3">
                  <c:v>-27.3</c:v>
                </c:pt>
              </c:numCache>
            </c:numRef>
          </c:val>
          <c:extLst>
            <c:ext xmlns:c16="http://schemas.microsoft.com/office/drawing/2014/chart" uri="{C3380CC4-5D6E-409C-BE32-E72D297353CC}">
              <c16:uniqueId val="{00000008-C808-45AF-AF0B-335C640F1CA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c:v>
                </c:pt>
              </c:strCache>
            </c:strRef>
          </c:tx>
          <c:spPr>
            <a:solidFill>
              <a:srgbClr val="2E9E6B"/>
            </a:solidFill>
            <a:effectLst/>
          </c:spPr>
          <c:invertIfNegative val="0"/>
          <c:dPt>
            <c:idx val="0"/>
            <c:invertIfNegative val="0"/>
            <c:bubble3D val="0"/>
            <c:extLst>
              <c:ext xmlns:c16="http://schemas.microsoft.com/office/drawing/2014/chart" uri="{C3380CC4-5D6E-409C-BE32-E72D297353CC}">
                <c16:uniqueId val="{00000001-D34F-4920-9A26-85618EE8717F}"/>
              </c:ext>
            </c:extLst>
          </c:dPt>
          <c:dPt>
            <c:idx val="1"/>
            <c:invertIfNegative val="0"/>
            <c:bubble3D val="0"/>
            <c:spPr>
              <a:solidFill>
                <a:srgbClr val="F28C28"/>
              </a:solidFill>
              <a:effectLst/>
            </c:spPr>
            <c:extLst>
              <c:ext xmlns:c16="http://schemas.microsoft.com/office/drawing/2014/chart" uri="{C3380CC4-5D6E-409C-BE32-E72D297353CC}">
                <c16:uniqueId val="{00000003-D34F-4920-9A26-85618EE8717F}"/>
              </c:ext>
            </c:extLst>
          </c:dPt>
          <c:dPt>
            <c:idx val="2"/>
            <c:invertIfNegative val="0"/>
            <c:bubble3D val="0"/>
            <c:spPr>
              <a:solidFill>
                <a:srgbClr val="D64545"/>
              </a:solidFill>
              <a:effectLst/>
            </c:spPr>
            <c:extLst>
              <c:ext xmlns:c16="http://schemas.microsoft.com/office/drawing/2014/chart" uri="{C3380CC4-5D6E-409C-BE32-E72D297353CC}">
                <c16:uniqueId val="{00000005-D34F-4920-9A26-85618EE8717F}"/>
              </c:ext>
            </c:extLst>
          </c:dPt>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Value</c:v>
                </c:pt>
                <c:pt idx="1">
                  <c:v>Medium Value</c:v>
                </c:pt>
                <c:pt idx="2">
                  <c:v>Low Value</c:v>
                </c:pt>
              </c:strCache>
            </c:strRef>
          </c:cat>
          <c:val>
            <c:numRef>
              <c:f>Sheet1!$B$2:$B$4</c:f>
              <c:numCache>
                <c:formatCode>General</c:formatCode>
                <c:ptCount val="3"/>
                <c:pt idx="0">
                  <c:v>65</c:v>
                </c:pt>
                <c:pt idx="1">
                  <c:v>26.2</c:v>
                </c:pt>
                <c:pt idx="2">
                  <c:v>8.8000000000000007</c:v>
                </c:pt>
              </c:numCache>
            </c:numRef>
          </c:val>
          <c:extLst>
            <c:ext xmlns:c16="http://schemas.microsoft.com/office/drawing/2014/chart" uri="{C3380CC4-5D6E-409C-BE32-E72D297353CC}">
              <c16:uniqueId val="{00000006-D34F-4920-9A26-85618EE871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4A6FA5"/>
            </a:solidFill>
            <a:effectLst/>
          </c:spPr>
          <c:invertIfNegative val="0"/>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Pooja Iyer (C-0074)</c:v>
                </c:pt>
                <c:pt idx="1">
                  <c:v>Pooja Reddy (C-0120)</c:v>
                </c:pt>
                <c:pt idx="2">
                  <c:v>Manoj Deshmukh (C-0080)</c:v>
                </c:pt>
                <c:pt idx="3">
                  <c:v>Rahul Nair (C-0787)</c:v>
                </c:pt>
                <c:pt idx="4">
                  <c:v>Suresh Patil (C-0930)</c:v>
                </c:pt>
              </c:strCache>
            </c:strRef>
          </c:cat>
          <c:val>
            <c:numRef>
              <c:f>Sheet1!$B$2:$B$6</c:f>
              <c:numCache>
                <c:formatCode>General</c:formatCode>
                <c:ptCount val="5"/>
                <c:pt idx="0">
                  <c:v>20.3</c:v>
                </c:pt>
                <c:pt idx="1">
                  <c:v>21.3</c:v>
                </c:pt>
                <c:pt idx="2">
                  <c:v>25.2</c:v>
                </c:pt>
                <c:pt idx="3">
                  <c:v>26.3</c:v>
                </c:pt>
                <c:pt idx="4">
                  <c:v>29.4</c:v>
                </c:pt>
              </c:numCache>
            </c:numRef>
          </c:val>
          <c:extLst>
            <c:ext xmlns:c16="http://schemas.microsoft.com/office/drawing/2014/chart" uri="{C3380CC4-5D6E-409C-BE32-E72D297353CC}">
              <c16:uniqueId val="{00000000-2D97-4C96-B534-1152CBE5D15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c:v>
                </c:pt>
              </c:strCache>
            </c:strRef>
          </c:tx>
          <c:spPr>
            <a:ln w="25400" cap="flat">
              <a:solidFill>
                <a:srgbClr val="1C7293"/>
              </a:solidFill>
              <a:prstDash val="solid"/>
              <a:round/>
            </a:ln>
            <a:effectLst/>
          </c:spPr>
          <c:marker>
            <c:symbol val="none"/>
          </c:marker>
          <c:cat>
            <c:strRef>
              <c:f>Sheet1!$A$2:$A$37</c:f>
              <c:strCache>
                <c:ptCount val="36"/>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strCache>
            </c:strRef>
          </c:cat>
          <c:val>
            <c:numRef>
              <c:f>Sheet1!$B$2:$B$37</c:f>
              <c:numCache>
                <c:formatCode>General</c:formatCode>
                <c:ptCount val="36"/>
                <c:pt idx="0">
                  <c:v>15.4</c:v>
                </c:pt>
                <c:pt idx="1">
                  <c:v>20</c:v>
                </c:pt>
                <c:pt idx="2">
                  <c:v>21.1</c:v>
                </c:pt>
                <c:pt idx="3">
                  <c:v>33.700000000000003</c:v>
                </c:pt>
                <c:pt idx="4">
                  <c:v>21.4</c:v>
                </c:pt>
                <c:pt idx="5">
                  <c:v>17.7</c:v>
                </c:pt>
                <c:pt idx="6">
                  <c:v>25.6</c:v>
                </c:pt>
                <c:pt idx="7">
                  <c:v>32.1</c:v>
                </c:pt>
                <c:pt idx="8">
                  <c:v>29.6</c:v>
                </c:pt>
                <c:pt idx="9">
                  <c:v>36.9</c:v>
                </c:pt>
                <c:pt idx="10">
                  <c:v>37.299999999999997</c:v>
                </c:pt>
                <c:pt idx="11">
                  <c:v>28.6</c:v>
                </c:pt>
                <c:pt idx="12">
                  <c:v>27.3</c:v>
                </c:pt>
                <c:pt idx="13">
                  <c:v>24.9</c:v>
                </c:pt>
                <c:pt idx="14">
                  <c:v>23.4</c:v>
                </c:pt>
                <c:pt idx="15">
                  <c:v>22.1</c:v>
                </c:pt>
                <c:pt idx="16">
                  <c:v>32.4</c:v>
                </c:pt>
                <c:pt idx="17">
                  <c:v>31.8</c:v>
                </c:pt>
                <c:pt idx="18">
                  <c:v>34.299999999999997</c:v>
                </c:pt>
                <c:pt idx="19">
                  <c:v>35.200000000000003</c:v>
                </c:pt>
                <c:pt idx="20">
                  <c:v>38.299999999999997</c:v>
                </c:pt>
                <c:pt idx="21">
                  <c:v>35</c:v>
                </c:pt>
                <c:pt idx="22">
                  <c:v>56.8</c:v>
                </c:pt>
                <c:pt idx="23">
                  <c:v>52.8</c:v>
                </c:pt>
                <c:pt idx="24">
                  <c:v>36.6</c:v>
                </c:pt>
                <c:pt idx="25">
                  <c:v>25.3</c:v>
                </c:pt>
                <c:pt idx="26">
                  <c:v>49</c:v>
                </c:pt>
                <c:pt idx="27">
                  <c:v>36.700000000000003</c:v>
                </c:pt>
                <c:pt idx="28">
                  <c:v>47.2</c:v>
                </c:pt>
                <c:pt idx="29">
                  <c:v>29</c:v>
                </c:pt>
                <c:pt idx="30">
                  <c:v>37.5</c:v>
                </c:pt>
                <c:pt idx="31">
                  <c:v>47.6</c:v>
                </c:pt>
                <c:pt idx="32">
                  <c:v>43.9</c:v>
                </c:pt>
                <c:pt idx="33">
                  <c:v>48.7</c:v>
                </c:pt>
                <c:pt idx="34">
                  <c:v>61</c:v>
                </c:pt>
                <c:pt idx="35">
                  <c:v>80.7</c:v>
                </c:pt>
              </c:numCache>
            </c:numRef>
          </c:val>
          <c:smooth val="0"/>
          <c:extLst>
            <c:ext xmlns:c16="http://schemas.microsoft.com/office/drawing/2014/chart" uri="{C3380CC4-5D6E-409C-BE32-E72D297353CC}">
              <c16:uniqueId val="{00000000-56AC-417D-8E36-3C1E73F1167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Profit</c:v>
                </c:pt>
              </c:strCache>
            </c:strRef>
          </c:tx>
          <c:spPr>
            <a:ln w="25400" cap="flat">
              <a:solidFill>
                <a:srgbClr val="2E9E6B"/>
              </a:solidFill>
              <a:prstDash val="solid"/>
              <a:round/>
            </a:ln>
            <a:effectLst/>
          </c:spPr>
          <c:marker>
            <c:symbol val="none"/>
          </c:marker>
          <c:cat>
            <c:strRef>
              <c:f>Sheet1!$A$2:$A$37</c:f>
              <c:strCache>
                <c:ptCount val="36"/>
                <c:pt idx="0">
                  <c:v>2023-01</c:v>
                </c:pt>
                <c:pt idx="1">
                  <c:v>2023-02</c:v>
                </c:pt>
                <c:pt idx="2">
                  <c:v>2023-03</c:v>
                </c:pt>
                <c:pt idx="3">
                  <c:v>2023-04</c:v>
                </c:pt>
                <c:pt idx="4">
                  <c:v>2023-05</c:v>
                </c:pt>
                <c:pt idx="5">
                  <c:v>2023-06</c:v>
                </c:pt>
                <c:pt idx="6">
                  <c:v>2023-07</c:v>
                </c:pt>
                <c:pt idx="7">
                  <c:v>2023-08</c:v>
                </c:pt>
                <c:pt idx="8">
                  <c:v>2023-09</c:v>
                </c:pt>
                <c:pt idx="9">
                  <c:v>2023-10</c:v>
                </c:pt>
                <c:pt idx="10">
                  <c:v>2023-11</c:v>
                </c:pt>
                <c:pt idx="11">
                  <c:v>2023-12</c:v>
                </c:pt>
                <c:pt idx="12">
                  <c:v>2024-01</c:v>
                </c:pt>
                <c:pt idx="13">
                  <c:v>2024-02</c:v>
                </c:pt>
                <c:pt idx="14">
                  <c:v>2024-03</c:v>
                </c:pt>
                <c:pt idx="15">
                  <c:v>2024-04</c:v>
                </c:pt>
                <c:pt idx="16">
                  <c:v>2024-05</c:v>
                </c:pt>
                <c:pt idx="17">
                  <c:v>2024-06</c:v>
                </c:pt>
                <c:pt idx="18">
                  <c:v>2024-07</c:v>
                </c:pt>
                <c:pt idx="19">
                  <c:v>2024-08</c:v>
                </c:pt>
                <c:pt idx="20">
                  <c:v>2024-09</c:v>
                </c:pt>
                <c:pt idx="21">
                  <c:v>2024-10</c:v>
                </c:pt>
                <c:pt idx="22">
                  <c:v>2024-11</c:v>
                </c:pt>
                <c:pt idx="23">
                  <c:v>2024-12</c:v>
                </c:pt>
                <c:pt idx="24">
                  <c:v>2025-01</c:v>
                </c:pt>
                <c:pt idx="25">
                  <c:v>2025-02</c:v>
                </c:pt>
                <c:pt idx="26">
                  <c:v>2025-03</c:v>
                </c:pt>
                <c:pt idx="27">
                  <c:v>2025-04</c:v>
                </c:pt>
                <c:pt idx="28">
                  <c:v>2025-05</c:v>
                </c:pt>
                <c:pt idx="29">
                  <c:v>2025-06</c:v>
                </c:pt>
                <c:pt idx="30">
                  <c:v>2025-07</c:v>
                </c:pt>
                <c:pt idx="31">
                  <c:v>2025-08</c:v>
                </c:pt>
                <c:pt idx="32">
                  <c:v>2025-09</c:v>
                </c:pt>
                <c:pt idx="33">
                  <c:v>2025-10</c:v>
                </c:pt>
                <c:pt idx="34">
                  <c:v>2025-11</c:v>
                </c:pt>
                <c:pt idx="35">
                  <c:v>2025-12</c:v>
                </c:pt>
              </c:strCache>
            </c:strRef>
          </c:cat>
          <c:val>
            <c:numRef>
              <c:f>Sheet1!$B$2:$B$37</c:f>
              <c:numCache>
                <c:formatCode>General</c:formatCode>
                <c:ptCount val="36"/>
                <c:pt idx="0">
                  <c:v>1</c:v>
                </c:pt>
                <c:pt idx="1">
                  <c:v>1.8</c:v>
                </c:pt>
                <c:pt idx="2">
                  <c:v>3.1</c:v>
                </c:pt>
                <c:pt idx="3">
                  <c:v>4.5999999999999996</c:v>
                </c:pt>
                <c:pt idx="4">
                  <c:v>2.2000000000000002</c:v>
                </c:pt>
                <c:pt idx="5">
                  <c:v>2.5</c:v>
                </c:pt>
                <c:pt idx="6">
                  <c:v>3.7</c:v>
                </c:pt>
                <c:pt idx="7">
                  <c:v>3.9</c:v>
                </c:pt>
                <c:pt idx="8">
                  <c:v>3.7</c:v>
                </c:pt>
                <c:pt idx="9">
                  <c:v>6</c:v>
                </c:pt>
                <c:pt idx="10">
                  <c:v>5.5</c:v>
                </c:pt>
                <c:pt idx="11">
                  <c:v>4.0999999999999996</c:v>
                </c:pt>
                <c:pt idx="12">
                  <c:v>4.2</c:v>
                </c:pt>
                <c:pt idx="13">
                  <c:v>3.4</c:v>
                </c:pt>
                <c:pt idx="14">
                  <c:v>2.7</c:v>
                </c:pt>
                <c:pt idx="15">
                  <c:v>3</c:v>
                </c:pt>
                <c:pt idx="16">
                  <c:v>4</c:v>
                </c:pt>
                <c:pt idx="17">
                  <c:v>4.5</c:v>
                </c:pt>
                <c:pt idx="18">
                  <c:v>3.6</c:v>
                </c:pt>
                <c:pt idx="19">
                  <c:v>4.0999999999999996</c:v>
                </c:pt>
                <c:pt idx="20">
                  <c:v>4.5</c:v>
                </c:pt>
                <c:pt idx="21">
                  <c:v>4.9000000000000004</c:v>
                </c:pt>
                <c:pt idx="22">
                  <c:v>8.1</c:v>
                </c:pt>
                <c:pt idx="23">
                  <c:v>5.5</c:v>
                </c:pt>
                <c:pt idx="24">
                  <c:v>4.2</c:v>
                </c:pt>
                <c:pt idx="25">
                  <c:v>3.6</c:v>
                </c:pt>
                <c:pt idx="26">
                  <c:v>5.0999999999999996</c:v>
                </c:pt>
                <c:pt idx="27">
                  <c:v>4.3</c:v>
                </c:pt>
                <c:pt idx="28">
                  <c:v>6.3</c:v>
                </c:pt>
                <c:pt idx="29">
                  <c:v>2.6</c:v>
                </c:pt>
                <c:pt idx="30">
                  <c:v>4.7</c:v>
                </c:pt>
                <c:pt idx="31">
                  <c:v>7.8</c:v>
                </c:pt>
                <c:pt idx="32">
                  <c:v>6.1</c:v>
                </c:pt>
                <c:pt idx="33">
                  <c:v>7.7</c:v>
                </c:pt>
                <c:pt idx="34">
                  <c:v>6.7</c:v>
                </c:pt>
                <c:pt idx="35">
                  <c:v>10.4</c:v>
                </c:pt>
              </c:numCache>
            </c:numRef>
          </c:val>
          <c:smooth val="0"/>
          <c:extLst>
            <c:ext xmlns:c16="http://schemas.microsoft.com/office/drawing/2014/chart" uri="{C3380CC4-5D6E-409C-BE32-E72D297353CC}">
              <c16:uniqueId val="{00000000-7B28-4173-826B-AB132DCDD48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c:v>
                </c:pt>
              </c:strCache>
            </c:strRef>
          </c:tx>
          <c:spPr>
            <a:solidFill>
              <a:srgbClr val="4A6FA5"/>
            </a:solidFill>
            <a:effectLst/>
          </c:spPr>
          <c:invertIfNegative val="0"/>
          <c:cat>
            <c:strRef>
              <c:f>Sheet1!$A$2:$A$4</c:f>
              <c:strCache>
                <c:ptCount val="3"/>
                <c:pt idx="0">
                  <c:v>Technology</c:v>
                </c:pt>
                <c:pt idx="1">
                  <c:v>Office Supplies</c:v>
                </c:pt>
                <c:pt idx="2">
                  <c:v>Furniture</c:v>
                </c:pt>
              </c:strCache>
            </c:strRef>
          </c:cat>
          <c:val>
            <c:numRef>
              <c:f>Sheet1!$B$2:$B$4</c:f>
              <c:numCache>
                <c:formatCode>General</c:formatCode>
                <c:ptCount val="3"/>
                <c:pt idx="0">
                  <c:v>714.5</c:v>
                </c:pt>
                <c:pt idx="1">
                  <c:v>285</c:v>
                </c:pt>
                <c:pt idx="2">
                  <c:v>277.5</c:v>
                </c:pt>
              </c:numCache>
            </c:numRef>
          </c:val>
          <c:extLst>
            <c:ext xmlns:c16="http://schemas.microsoft.com/office/drawing/2014/chart" uri="{C3380CC4-5D6E-409C-BE32-E72D297353CC}">
              <c16:uniqueId val="{00000000-A5B1-4729-AA23-115E9B4FC11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c:v>
                </c:pt>
              </c:strCache>
            </c:strRef>
          </c:tx>
          <c:spPr>
            <a:solidFill>
              <a:srgbClr val="2E9E6B"/>
            </a:solidFill>
            <a:effectLst/>
          </c:spPr>
          <c:invertIfNegative val="0"/>
          <c:cat>
            <c:strRef>
              <c:f>Sheet1!$A$2:$A$6</c:f>
              <c:strCache>
                <c:ptCount val="5"/>
                <c:pt idx="0">
                  <c:v>South</c:v>
                </c:pt>
                <c:pt idx="1">
                  <c:v>West</c:v>
                </c:pt>
                <c:pt idx="2">
                  <c:v>North</c:v>
                </c:pt>
                <c:pt idx="3">
                  <c:v>Central</c:v>
                </c:pt>
                <c:pt idx="4">
                  <c:v>East</c:v>
                </c:pt>
              </c:strCache>
            </c:strRef>
          </c:cat>
          <c:val>
            <c:numRef>
              <c:f>Sheet1!$B$2:$B$6</c:f>
              <c:numCache>
                <c:formatCode>General</c:formatCode>
                <c:ptCount val="5"/>
                <c:pt idx="0">
                  <c:v>369.8</c:v>
                </c:pt>
                <c:pt idx="1">
                  <c:v>334.8</c:v>
                </c:pt>
                <c:pt idx="2">
                  <c:v>306.3</c:v>
                </c:pt>
                <c:pt idx="3">
                  <c:v>141.5</c:v>
                </c:pt>
                <c:pt idx="4">
                  <c:v>124.5</c:v>
                </c:pt>
              </c:numCache>
            </c:numRef>
          </c:val>
          <c:extLst>
            <c:ext xmlns:c16="http://schemas.microsoft.com/office/drawing/2014/chart" uri="{C3380CC4-5D6E-409C-BE32-E72D297353CC}">
              <c16:uniqueId val="{00000000-F329-415D-8D4E-2979835BA03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F28C28"/>
            </a:solidFill>
            <a:effectLst/>
          </c:spPr>
          <c:invertIfNegative val="0"/>
          <c:cat>
            <c:strRef>
              <c:f>Sheet1!$A$2:$A$11</c:f>
              <c:strCache>
                <c:ptCount val="10"/>
                <c:pt idx="0">
                  <c:v>Classic Chair</c:v>
                </c:pt>
                <c:pt idx="1">
                  <c:v>Pro Copier</c:v>
                </c:pt>
                <c:pt idx="2">
                  <c:v>Smart Phone</c:v>
                </c:pt>
                <c:pt idx="3">
                  <c:v>Premium Appliance</c:v>
                </c:pt>
                <c:pt idx="4">
                  <c:v>Eco Copier</c:v>
                </c:pt>
                <c:pt idx="5">
                  <c:v>Deluxe Phone</c:v>
                </c:pt>
                <c:pt idx="6">
                  <c:v>Classic Copier</c:v>
                </c:pt>
                <c:pt idx="7">
                  <c:v>Eco Phone</c:v>
                </c:pt>
                <c:pt idx="8">
                  <c:v>Premium Phone</c:v>
                </c:pt>
                <c:pt idx="9">
                  <c:v>Pro Phone</c:v>
                </c:pt>
              </c:strCache>
            </c:strRef>
          </c:cat>
          <c:val>
            <c:numRef>
              <c:f>Sheet1!$B$2:$B$11</c:f>
              <c:numCache>
                <c:formatCode>General</c:formatCode>
                <c:ptCount val="10"/>
                <c:pt idx="0">
                  <c:v>28.2</c:v>
                </c:pt>
                <c:pt idx="1">
                  <c:v>32.9</c:v>
                </c:pt>
                <c:pt idx="2">
                  <c:v>34.799999999999997</c:v>
                </c:pt>
                <c:pt idx="3">
                  <c:v>36.200000000000003</c:v>
                </c:pt>
                <c:pt idx="4">
                  <c:v>41.7</c:v>
                </c:pt>
                <c:pt idx="5">
                  <c:v>43.1</c:v>
                </c:pt>
                <c:pt idx="6">
                  <c:v>45.5</c:v>
                </c:pt>
                <c:pt idx="7">
                  <c:v>56.7</c:v>
                </c:pt>
                <c:pt idx="8">
                  <c:v>61.9</c:v>
                </c:pt>
                <c:pt idx="9">
                  <c:v>84.7</c:v>
                </c:pt>
              </c:numCache>
            </c:numRef>
          </c:val>
          <c:extLst>
            <c:ext xmlns:c16="http://schemas.microsoft.com/office/drawing/2014/chart" uri="{C3380CC4-5D6E-409C-BE32-E72D297353CC}">
              <c16:uniqueId val="{00000000-6C34-4DE9-84F5-C4747ABA2A7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tickLblSkip val="1"/>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4A6FA5"/>
            </a:solidFill>
            <a:effectLst/>
          </c:spPr>
          <c:invertIfNegative val="0"/>
          <c:cat>
            <c:strRef>
              <c:f>Sheet1!$A$2:$A$11</c:f>
              <c:strCache>
                <c:ptCount val="10"/>
                <c:pt idx="0">
                  <c:v>Ankit Chavan (C-0923)</c:v>
                </c:pt>
                <c:pt idx="1">
                  <c:v>Sanjay Gupta (C-0488)</c:v>
                </c:pt>
                <c:pt idx="2">
                  <c:v>Neha Iyer (C-0396)</c:v>
                </c:pt>
                <c:pt idx="3">
                  <c:v>Ankit Banerjee (C-0391)</c:v>
                </c:pt>
                <c:pt idx="4">
                  <c:v>Neha Joshi (C-0016)</c:v>
                </c:pt>
                <c:pt idx="5">
                  <c:v>Pooja Iyer (C-0074)</c:v>
                </c:pt>
                <c:pt idx="6">
                  <c:v>Pooja Reddy (C-0120)</c:v>
                </c:pt>
                <c:pt idx="7">
                  <c:v>Manoj Deshmukh (C-0080)</c:v>
                </c:pt>
                <c:pt idx="8">
                  <c:v>Rahul Nair (C-0787)</c:v>
                </c:pt>
                <c:pt idx="9">
                  <c:v>Suresh Patil (C-0930)</c:v>
                </c:pt>
              </c:strCache>
            </c:strRef>
          </c:cat>
          <c:val>
            <c:numRef>
              <c:f>Sheet1!$B$2:$B$11</c:f>
              <c:numCache>
                <c:formatCode>General</c:formatCode>
                <c:ptCount val="10"/>
                <c:pt idx="0">
                  <c:v>11.5</c:v>
                </c:pt>
                <c:pt idx="1">
                  <c:v>12.7</c:v>
                </c:pt>
                <c:pt idx="2">
                  <c:v>14.1</c:v>
                </c:pt>
                <c:pt idx="3">
                  <c:v>16.399999999999999</c:v>
                </c:pt>
                <c:pt idx="4">
                  <c:v>17</c:v>
                </c:pt>
                <c:pt idx="5">
                  <c:v>20.3</c:v>
                </c:pt>
                <c:pt idx="6">
                  <c:v>21.3</c:v>
                </c:pt>
                <c:pt idx="7">
                  <c:v>25.2</c:v>
                </c:pt>
                <c:pt idx="8">
                  <c:v>26.3</c:v>
                </c:pt>
                <c:pt idx="9">
                  <c:v>29.4</c:v>
                </c:pt>
              </c:numCache>
            </c:numRef>
          </c:val>
          <c:extLst>
            <c:ext xmlns:c16="http://schemas.microsoft.com/office/drawing/2014/chart" uri="{C3380CC4-5D6E-409C-BE32-E72D297353CC}">
              <c16:uniqueId val="{00000000-560E-4861-A3C5-AAA69CB7583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c:v>
                </c:pt>
              </c:strCache>
            </c:strRef>
          </c:tx>
          <c:spPr>
            <a:solidFill>
              <a:srgbClr val="2E9E6B"/>
            </a:solidFill>
            <a:effectLst/>
          </c:spPr>
          <c:invertIfNegative val="0"/>
          <c:dPt>
            <c:idx val="0"/>
            <c:invertIfNegative val="0"/>
            <c:bubble3D val="0"/>
            <c:extLst>
              <c:ext xmlns:c16="http://schemas.microsoft.com/office/drawing/2014/chart" uri="{C3380CC4-5D6E-409C-BE32-E72D297353CC}">
                <c16:uniqueId val="{00000001-EEEA-4413-8999-E2734091800B}"/>
              </c:ext>
            </c:extLst>
          </c:dPt>
          <c:dPt>
            <c:idx val="1"/>
            <c:invertIfNegative val="0"/>
            <c:bubble3D val="0"/>
            <c:spPr>
              <a:solidFill>
                <a:srgbClr val="F28C28"/>
              </a:solidFill>
              <a:effectLst/>
            </c:spPr>
            <c:extLst>
              <c:ext xmlns:c16="http://schemas.microsoft.com/office/drawing/2014/chart" uri="{C3380CC4-5D6E-409C-BE32-E72D297353CC}">
                <c16:uniqueId val="{00000003-EEEA-4413-8999-E2734091800B}"/>
              </c:ext>
            </c:extLst>
          </c:dPt>
          <c:dPt>
            <c:idx val="2"/>
            <c:invertIfNegative val="0"/>
            <c:bubble3D val="0"/>
            <c:spPr>
              <a:solidFill>
                <a:srgbClr val="D64545"/>
              </a:solidFill>
              <a:effectLst/>
            </c:spPr>
            <c:extLst>
              <c:ext xmlns:c16="http://schemas.microsoft.com/office/drawing/2014/chart" uri="{C3380CC4-5D6E-409C-BE32-E72D297353CC}">
                <c16:uniqueId val="{00000005-EEEA-4413-8999-E2734091800B}"/>
              </c:ext>
            </c:extLst>
          </c:dPt>
          <c:dLbls>
            <c:numFmt formatCode="0.0" sourceLinked="0"/>
            <c:spPr>
              <a:noFill/>
              <a:ln>
                <a:noFill/>
              </a:ln>
              <a:effectLst/>
            </c:spPr>
            <c:txPr>
              <a:bodyPr/>
              <a:lstStyle/>
              <a:p>
                <a:pPr>
                  <a:defRPr sz="1000" b="0" i="0" u="none" strike="noStrike">
                    <a:solidFill>
                      <a:srgbClr val="1B2A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 Value</c:v>
                </c:pt>
                <c:pt idx="1">
                  <c:v>Medium Value</c:v>
                </c:pt>
                <c:pt idx="2">
                  <c:v>Low Value</c:v>
                </c:pt>
              </c:strCache>
            </c:strRef>
          </c:cat>
          <c:val>
            <c:numRef>
              <c:f>Sheet1!$B$2:$B$4</c:f>
              <c:numCache>
                <c:formatCode>General</c:formatCode>
                <c:ptCount val="3"/>
                <c:pt idx="0">
                  <c:v>65</c:v>
                </c:pt>
                <c:pt idx="1">
                  <c:v>26.2</c:v>
                </c:pt>
                <c:pt idx="2">
                  <c:v>8.8000000000000007</c:v>
                </c:pt>
              </c:numCache>
            </c:numRef>
          </c:val>
          <c:extLst>
            <c:ext xmlns:c16="http://schemas.microsoft.com/office/drawing/2014/chart" uri="{C3380CC4-5D6E-409C-BE32-E72D297353CC}">
              <c16:uniqueId val="{00000006-EEEA-4413-8999-E273409180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Sales</c:v>
                </c:pt>
              </c:strCache>
            </c:strRef>
          </c:tx>
          <c:spPr>
            <a:solidFill>
              <a:srgbClr val="4A6FA5"/>
            </a:solidFill>
            <a:effectLst/>
          </c:spPr>
          <c:invertIfNegative val="0"/>
          <c:cat>
            <c:strRef>
              <c:f>Sheet1!$A$2:$A$4</c:f>
              <c:strCache>
                <c:ptCount val="3"/>
                <c:pt idx="0">
                  <c:v>Technology</c:v>
                </c:pt>
                <c:pt idx="1">
                  <c:v>Office Supplies</c:v>
                </c:pt>
                <c:pt idx="2">
                  <c:v>Furniture</c:v>
                </c:pt>
              </c:strCache>
            </c:strRef>
          </c:cat>
          <c:val>
            <c:numRef>
              <c:f>Sheet1!$B$2:$B$4</c:f>
              <c:numCache>
                <c:formatCode>General</c:formatCode>
                <c:ptCount val="3"/>
                <c:pt idx="0">
                  <c:v>714.5</c:v>
                </c:pt>
                <c:pt idx="1">
                  <c:v>285</c:v>
                </c:pt>
                <c:pt idx="2">
                  <c:v>277.5</c:v>
                </c:pt>
              </c:numCache>
            </c:numRef>
          </c:val>
          <c:extLst>
            <c:ext xmlns:c16="http://schemas.microsoft.com/office/drawing/2014/chart" uri="{C3380CC4-5D6E-409C-BE32-E72D297353CC}">
              <c16:uniqueId val="{00000000-E69A-48AF-A77F-98D290C781AF}"/>
            </c:ext>
          </c:extLst>
        </c:ser>
        <c:ser>
          <c:idx val="1"/>
          <c:order val="1"/>
          <c:tx>
            <c:strRef>
              <c:f>Sheet1!$C$1</c:f>
              <c:strCache>
                <c:ptCount val="1"/>
                <c:pt idx="0">
                  <c:v>Profit</c:v>
                </c:pt>
              </c:strCache>
            </c:strRef>
          </c:tx>
          <c:spPr>
            <a:solidFill>
              <a:srgbClr val="2E9E6B"/>
            </a:solidFill>
            <a:effectLst/>
          </c:spPr>
          <c:invertIfNegative val="0"/>
          <c:cat>
            <c:strRef>
              <c:f>Sheet1!$A$2:$A$4</c:f>
              <c:strCache>
                <c:ptCount val="3"/>
                <c:pt idx="0">
                  <c:v>Technology</c:v>
                </c:pt>
                <c:pt idx="1">
                  <c:v>Office Supplies</c:v>
                </c:pt>
                <c:pt idx="2">
                  <c:v>Furniture</c:v>
                </c:pt>
              </c:strCache>
            </c:strRef>
          </c:cat>
          <c:val>
            <c:numRef>
              <c:f>Sheet1!$C$2:$C$4</c:f>
              <c:numCache>
                <c:formatCode>General</c:formatCode>
                <c:ptCount val="3"/>
                <c:pt idx="0">
                  <c:v>110.3</c:v>
                </c:pt>
                <c:pt idx="1">
                  <c:v>54.1</c:v>
                </c:pt>
                <c:pt idx="2">
                  <c:v>-0.1</c:v>
                </c:pt>
              </c:numCache>
            </c:numRef>
          </c:val>
          <c:extLst>
            <c:ext xmlns:c16="http://schemas.microsoft.com/office/drawing/2014/chart" uri="{C3380CC4-5D6E-409C-BE32-E72D297353CC}">
              <c16:uniqueId val="{00000001-E69A-48AF-A77F-98D290C781A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F28C28"/>
            </a:solidFill>
            <a:effectLst/>
          </c:spPr>
          <c:invertIfNegative val="0"/>
          <c:cat>
            <c:strRef>
              <c:f>Sheet1!$A$2:$A$6</c:f>
              <c:strCache>
                <c:ptCount val="5"/>
                <c:pt idx="0">
                  <c:v>Deluxe Phone</c:v>
                </c:pt>
                <c:pt idx="1">
                  <c:v>Classic Copier</c:v>
                </c:pt>
                <c:pt idx="2">
                  <c:v>Eco Phone</c:v>
                </c:pt>
                <c:pt idx="3">
                  <c:v>Premium Phone</c:v>
                </c:pt>
                <c:pt idx="4">
                  <c:v>Pro Phone</c:v>
                </c:pt>
              </c:strCache>
            </c:strRef>
          </c:cat>
          <c:val>
            <c:numRef>
              <c:f>Sheet1!$B$2:$B$6</c:f>
              <c:numCache>
                <c:formatCode>General</c:formatCode>
                <c:ptCount val="5"/>
                <c:pt idx="0">
                  <c:v>43.1</c:v>
                </c:pt>
                <c:pt idx="1">
                  <c:v>45.5</c:v>
                </c:pt>
                <c:pt idx="2">
                  <c:v>56.7</c:v>
                </c:pt>
                <c:pt idx="3">
                  <c:v>61.9</c:v>
                </c:pt>
                <c:pt idx="4">
                  <c:v>84.7</c:v>
                </c:pt>
              </c:numCache>
            </c:numRef>
          </c:val>
          <c:extLst>
            <c:ext xmlns:c16="http://schemas.microsoft.com/office/drawing/2014/chart" uri="{C3380CC4-5D6E-409C-BE32-E72D297353CC}">
              <c16:uniqueId val="{00000000-F6C2-426D-A0EC-AAEE6FE3629C}"/>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D64545"/>
            </a:solidFill>
            <a:effectLst/>
          </c:spPr>
          <c:invertIfNegative val="0"/>
          <c:cat>
            <c:strRef>
              <c:f>Sheet1!$A$2:$A$6</c:f>
              <c:strCache>
                <c:ptCount val="5"/>
                <c:pt idx="0">
                  <c:v>Smart Fastener Pack</c:v>
                </c:pt>
                <c:pt idx="1">
                  <c:v>Pro Label Pack</c:v>
                </c:pt>
                <c:pt idx="2">
                  <c:v>Compact Label Pack</c:v>
                </c:pt>
                <c:pt idx="3">
                  <c:v>Deluxe Label Pack</c:v>
                </c:pt>
                <c:pt idx="4">
                  <c:v>Basic Label Pack</c:v>
                </c:pt>
              </c:strCache>
            </c:strRef>
          </c:cat>
          <c:val>
            <c:numRef>
              <c:f>Sheet1!$B$2:$B$6</c:f>
              <c:numCache>
                <c:formatCode>General</c:formatCode>
                <c:ptCount val="5"/>
                <c:pt idx="0">
                  <c:v>3.3</c:v>
                </c:pt>
                <c:pt idx="1">
                  <c:v>6.8</c:v>
                </c:pt>
                <c:pt idx="2">
                  <c:v>12.6</c:v>
                </c:pt>
                <c:pt idx="3">
                  <c:v>17.8</c:v>
                </c:pt>
                <c:pt idx="4">
                  <c:v>18.8</c:v>
                </c:pt>
              </c:numCache>
            </c:numRef>
          </c:val>
          <c:extLst>
            <c:ext xmlns:c16="http://schemas.microsoft.com/office/drawing/2014/chart" uri="{C3380CC4-5D6E-409C-BE32-E72D297353CC}">
              <c16:uniqueId val="{00000000-48B2-49E4-9D06-D919B27F82A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4256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project is about the sales of a retail company. I cleaned the data, studied sales, customers and products, and planned two Power BI dashboards. The data is a sample file, not real company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file had problems: repeated rows, empty cells, different spellings and wrong dates. I fixed them one by one in Python. The file went from 9,989 rows to 9,872 rows.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sales are 12.77 crore and profit is 1.64 crore. Sales go up every year and are highest in the last months of the year.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margin means profit divided by sales. Furniture has almost no profit. The West region has the lowest margin because it gives more discount. When discount is above 20 percent the company makes a loss.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customers buy again and they give almost all the sales. 32 of 136 products make a loss. The High Value group is the top 20 percent of customers by spending.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star schema. The Fact table in the middle holds numbers like Sales and Profit. The three small tables hold details about customer, product and date. Each connection is one to many.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1 is for the CEO. It has six KPI cards, revenue and profit trends, sales by category and region, and the top 10 products. Four slicers filter all charts together. This is the page layout I will build in Power BI using the guide.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2 goes deeper. It shows top customers, customer groups, category sales and profit, and the best and worst products. In Power BI you can click a bar to filter the other charts and drill down from category to product.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sales are growing, but profit is held back by high discounts and some loss-making products. My five suggestions are on the right. The data is a sample file, so with real data the numbers will change but the method stays the same.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63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1000" dirty="0">
                <a:solidFill>
                  <a:srgbClr val="7A8CA3"/>
                </a:solidFill>
              </a:rPr>
              <a:t>Sample dataset (not real company data)  |  StarCentauri Technologies - Data Analyst Internship</a:t>
            </a:r>
            <a:endParaRPr lang="en-US" sz="1000" dirty="0"/>
          </a:p>
        </p:txBody>
      </p:sp>
      <p:sp>
        <p:nvSpPr>
          <p:cNvPr id="3" name="Text 1"/>
          <p:cNvSpPr>
            <a:spLocks noGrp="1"/>
          </p:cNvSpPr>
          <p:nvPr>
            <p:ph type="title" idx="101" hasCustomPrompt="1"/>
          </p:nvPr>
        </p:nvSpPr>
        <p:spPr>
          <a:xfrm>
            <a:off x="457200" y="274320"/>
            <a:ext cx="11247120" cy="731520"/>
          </a:xfrm>
          <a:prstGeom prst="rect">
            <a:avLst/>
          </a:prstGeom>
          <a:noFill/>
          <a:ln/>
        </p:spPr>
        <p:txBody>
          <a:bodyPr wrap="square" rtlCol="0"/>
          <a:lstStyle>
            <a:lvl1pPr marL="0" indent="0">
              <a:buNone/>
              <a:defRPr lang="en-US" sz="3200" b="1" dirty="0">
                <a:solidFill>
                  <a:srgbClr val="1B2A3A"/>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chart" Target="../charts/chart1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2.xml"/><Relationship Id="rId7" Type="http://schemas.openxmlformats.org/officeDocument/2006/relationships/chart" Target="../charts/chart16.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63040"/>
            <a:ext cx="6583680" cy="20116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Retail Sales &amp; Customer Performance Analysis</a:t>
            </a:r>
            <a:endParaRPr lang="en-US" sz="4000" dirty="0"/>
          </a:p>
        </p:txBody>
      </p:sp>
      <p:sp>
        <p:nvSpPr>
          <p:cNvPr id="3" name="Text 1"/>
          <p:cNvSpPr txBox="1"/>
          <p:nvPr/>
        </p:nvSpPr>
        <p:spPr>
          <a:xfrm>
            <a:off x="640080" y="3657600"/>
            <a:ext cx="6400800" cy="365760"/>
          </a:xfrm>
          <a:prstGeom prst="rect">
            <a:avLst/>
          </a:prstGeom>
          <a:noFill/>
          <a:ln/>
        </p:spPr>
        <p:txBody>
          <a:bodyPr wrap="square" lIns="0" tIns="0" rIns="0" bIns="0" rtlCol="0" anchor="ctr"/>
          <a:lstStyle/>
          <a:p>
            <a:pPr marL="0" indent="0">
              <a:buNone/>
            </a:pPr>
            <a:r>
              <a:rPr lang="en-US" sz="2000" dirty="0">
                <a:solidFill>
                  <a:srgbClr val="9FD3E6"/>
                </a:solidFill>
              </a:rPr>
              <a:t>Data Analyst Internship Project</a:t>
            </a:r>
            <a:endParaRPr lang="en-US" sz="2000" dirty="0"/>
          </a:p>
        </p:txBody>
      </p:sp>
      <p:sp>
        <p:nvSpPr>
          <p:cNvPr id="4" name="Text 2"/>
          <p:cNvSpPr txBox="1"/>
          <p:nvPr/>
        </p:nvSpPr>
        <p:spPr>
          <a:xfrm>
            <a:off x="640080" y="4069080"/>
            <a:ext cx="6400800" cy="365760"/>
          </a:xfrm>
          <a:prstGeom prst="rect">
            <a:avLst/>
          </a:prstGeom>
          <a:noFill/>
          <a:ln/>
        </p:spPr>
        <p:txBody>
          <a:bodyPr wrap="square" lIns="0" tIns="0" rIns="0" bIns="0" rtlCol="0" anchor="ctr"/>
          <a:lstStyle/>
          <a:p>
            <a:pPr marL="0" indent="0">
              <a:buNone/>
            </a:pPr>
            <a:r>
              <a:rPr lang="en-US" sz="1800" dirty="0">
                <a:solidFill>
                  <a:srgbClr val="FFFFFF"/>
                </a:solidFill>
              </a:rPr>
              <a:t>StarCentauri Technologies</a:t>
            </a:r>
            <a:endParaRPr lang="en-US" sz="1800" dirty="0"/>
          </a:p>
        </p:txBody>
      </p:sp>
      <p:sp>
        <p:nvSpPr>
          <p:cNvPr id="5" name="Text 3"/>
          <p:cNvSpPr txBox="1"/>
          <p:nvPr/>
        </p:nvSpPr>
        <p:spPr>
          <a:xfrm>
            <a:off x="640080" y="5760720"/>
            <a:ext cx="7315200" cy="320040"/>
          </a:xfrm>
          <a:prstGeom prst="rect">
            <a:avLst/>
          </a:prstGeom>
          <a:noFill/>
          <a:ln/>
        </p:spPr>
        <p:txBody>
          <a:bodyPr wrap="square" lIns="0" tIns="0" rIns="0" bIns="0" rtlCol="0" anchor="ctr"/>
          <a:lstStyle/>
          <a:p>
            <a:pPr marL="0" indent="0">
              <a:buNone/>
            </a:pPr>
            <a:r>
              <a:rPr lang="en-US" sz="1400" dirty="0">
                <a:solidFill>
                  <a:srgbClr val="B8C7D6"/>
                </a:solidFill>
              </a:rPr>
              <a:t>Rushikesh Zine  |  Mentor: [Sanket Kanse] </a:t>
            </a:r>
            <a:endParaRPr lang="en-US" sz="1400" dirty="0"/>
          </a:p>
        </p:txBody>
      </p:sp>
      <p:sp>
        <p:nvSpPr>
          <p:cNvPr id="6" name="title stat card"/>
          <p:cNvSpPr/>
          <p:nvPr/>
        </p:nvSpPr>
        <p:spPr>
          <a:xfrm>
            <a:off x="8138160" y="1371600"/>
            <a:ext cx="3383280" cy="1280160"/>
          </a:xfrm>
          <a:prstGeom prst="roundRect">
            <a:avLst>
              <a:gd name="adj" fmla="val 7143"/>
            </a:avLst>
          </a:prstGeom>
          <a:solidFill>
            <a:srgbClr val="1D3A5C"/>
          </a:solidFill>
          <a:ln w="12700">
            <a:solidFill>
              <a:srgbClr val="1D3A5C"/>
            </a:solidFill>
            <a:prstDash val="solid"/>
          </a:ln>
        </p:spPr>
      </p:sp>
      <p:sp>
        <p:nvSpPr>
          <p:cNvPr id="7" name="Text 5"/>
          <p:cNvSpPr txBox="1"/>
          <p:nvPr/>
        </p:nvSpPr>
        <p:spPr>
          <a:xfrm>
            <a:off x="8321040" y="1481328"/>
            <a:ext cx="3017520" cy="640080"/>
          </a:xfrm>
          <a:prstGeom prst="rect">
            <a:avLst/>
          </a:prstGeom>
          <a:noFill/>
          <a:ln/>
        </p:spPr>
        <p:txBody>
          <a:bodyPr wrap="square" lIns="0" tIns="0" rIns="0" bIns="0" rtlCol="0" anchor="ctr"/>
          <a:lstStyle/>
          <a:p>
            <a:pPr marL="0" indent="0">
              <a:buNone/>
            </a:pPr>
            <a:r>
              <a:rPr lang="en-US" sz="3600" b="1" dirty="0">
                <a:solidFill>
                  <a:srgbClr val="F28C28"/>
                </a:solidFill>
                <a:latin typeface="Cambria" pitchFamily="34" charset="0"/>
                <a:ea typeface="Cambria" pitchFamily="34" charset="-122"/>
                <a:cs typeface="Cambria" pitchFamily="34" charset="-120"/>
              </a:rPr>
              <a:t>₹12.77 cr</a:t>
            </a:r>
            <a:endParaRPr lang="en-US" sz="3600" dirty="0"/>
          </a:p>
        </p:txBody>
      </p:sp>
      <p:sp>
        <p:nvSpPr>
          <p:cNvPr id="8" name="Text 6"/>
          <p:cNvSpPr txBox="1"/>
          <p:nvPr/>
        </p:nvSpPr>
        <p:spPr>
          <a:xfrm>
            <a:off x="8321040" y="2148840"/>
            <a:ext cx="3017520" cy="320040"/>
          </a:xfrm>
          <a:prstGeom prst="rect">
            <a:avLst/>
          </a:prstGeom>
          <a:noFill/>
          <a:ln/>
        </p:spPr>
        <p:txBody>
          <a:bodyPr wrap="square" lIns="0" tIns="0" rIns="0" bIns="0" rtlCol="0" anchor="ctr"/>
          <a:lstStyle/>
          <a:p>
            <a:pPr marL="0" indent="0">
              <a:buNone/>
            </a:pPr>
            <a:r>
              <a:rPr lang="en-US" sz="1400" dirty="0">
                <a:solidFill>
                  <a:srgbClr val="CADCFC"/>
                </a:solidFill>
              </a:rPr>
              <a:t>Total sales</a:t>
            </a:r>
            <a:endParaRPr lang="en-US" sz="1400" dirty="0"/>
          </a:p>
        </p:txBody>
      </p:sp>
      <p:sp>
        <p:nvSpPr>
          <p:cNvPr id="9" name="title stat card"/>
          <p:cNvSpPr/>
          <p:nvPr/>
        </p:nvSpPr>
        <p:spPr>
          <a:xfrm>
            <a:off x="8138160" y="2926080"/>
            <a:ext cx="3383280" cy="1280160"/>
          </a:xfrm>
          <a:prstGeom prst="roundRect">
            <a:avLst>
              <a:gd name="adj" fmla="val 7143"/>
            </a:avLst>
          </a:prstGeom>
          <a:solidFill>
            <a:srgbClr val="1D3A5C"/>
          </a:solidFill>
          <a:ln w="12700">
            <a:solidFill>
              <a:srgbClr val="1D3A5C"/>
            </a:solidFill>
            <a:prstDash val="solid"/>
          </a:ln>
        </p:spPr>
      </p:sp>
      <p:sp>
        <p:nvSpPr>
          <p:cNvPr id="10" name="Text 8"/>
          <p:cNvSpPr txBox="1"/>
          <p:nvPr/>
        </p:nvSpPr>
        <p:spPr>
          <a:xfrm>
            <a:off x="8321040" y="3035808"/>
            <a:ext cx="3017520" cy="640080"/>
          </a:xfrm>
          <a:prstGeom prst="rect">
            <a:avLst/>
          </a:prstGeom>
          <a:noFill/>
          <a:ln/>
        </p:spPr>
        <p:txBody>
          <a:bodyPr wrap="square" lIns="0" tIns="0" rIns="0" bIns="0" rtlCol="0" anchor="ctr"/>
          <a:lstStyle/>
          <a:p>
            <a:pPr marL="0" indent="0">
              <a:buNone/>
            </a:pPr>
            <a:r>
              <a:rPr lang="en-US" sz="3600" b="1" dirty="0">
                <a:solidFill>
                  <a:srgbClr val="F28C28"/>
                </a:solidFill>
                <a:latin typeface="Cambria" pitchFamily="34" charset="0"/>
                <a:ea typeface="Cambria" pitchFamily="34" charset="-122"/>
                <a:cs typeface="Cambria" pitchFamily="34" charset="-120"/>
              </a:rPr>
              <a:t>4,396</a:t>
            </a:r>
            <a:endParaRPr lang="en-US" sz="3600" dirty="0"/>
          </a:p>
        </p:txBody>
      </p:sp>
      <p:sp>
        <p:nvSpPr>
          <p:cNvPr id="11" name="Text 9"/>
          <p:cNvSpPr txBox="1"/>
          <p:nvPr/>
        </p:nvSpPr>
        <p:spPr>
          <a:xfrm>
            <a:off x="8321040" y="3703320"/>
            <a:ext cx="3017520" cy="320040"/>
          </a:xfrm>
          <a:prstGeom prst="rect">
            <a:avLst/>
          </a:prstGeom>
          <a:noFill/>
          <a:ln/>
        </p:spPr>
        <p:txBody>
          <a:bodyPr wrap="square" lIns="0" tIns="0" rIns="0" bIns="0" rtlCol="0" anchor="ctr"/>
          <a:lstStyle/>
          <a:p>
            <a:pPr marL="0" indent="0">
              <a:buNone/>
            </a:pPr>
            <a:r>
              <a:rPr lang="en-US" sz="1400" dirty="0">
                <a:solidFill>
                  <a:srgbClr val="CADCFC"/>
                </a:solidFill>
              </a:rPr>
              <a:t>Orders</a:t>
            </a:r>
            <a:endParaRPr lang="en-US" sz="1400" dirty="0"/>
          </a:p>
        </p:txBody>
      </p:sp>
      <p:sp>
        <p:nvSpPr>
          <p:cNvPr id="12" name="title stat card"/>
          <p:cNvSpPr/>
          <p:nvPr/>
        </p:nvSpPr>
        <p:spPr>
          <a:xfrm>
            <a:off x="8138160" y="4480560"/>
            <a:ext cx="3383280" cy="1280160"/>
          </a:xfrm>
          <a:prstGeom prst="roundRect">
            <a:avLst>
              <a:gd name="adj" fmla="val 7143"/>
            </a:avLst>
          </a:prstGeom>
          <a:solidFill>
            <a:srgbClr val="1D3A5C"/>
          </a:solidFill>
          <a:ln w="12700">
            <a:solidFill>
              <a:srgbClr val="1D3A5C"/>
            </a:solidFill>
            <a:prstDash val="solid"/>
          </a:ln>
        </p:spPr>
      </p:sp>
      <p:sp>
        <p:nvSpPr>
          <p:cNvPr id="13" name="Text 11"/>
          <p:cNvSpPr txBox="1"/>
          <p:nvPr/>
        </p:nvSpPr>
        <p:spPr>
          <a:xfrm>
            <a:off x="8321040" y="4590288"/>
            <a:ext cx="3017520" cy="640080"/>
          </a:xfrm>
          <a:prstGeom prst="rect">
            <a:avLst/>
          </a:prstGeom>
          <a:noFill/>
          <a:ln/>
        </p:spPr>
        <p:txBody>
          <a:bodyPr wrap="square" lIns="0" tIns="0" rIns="0" bIns="0" rtlCol="0" anchor="ctr"/>
          <a:lstStyle/>
          <a:p>
            <a:pPr marL="0" indent="0">
              <a:buNone/>
            </a:pPr>
            <a:r>
              <a:rPr lang="en-US" sz="3600" b="1" dirty="0">
                <a:solidFill>
                  <a:srgbClr val="F28C28"/>
                </a:solidFill>
                <a:latin typeface="Cambria" pitchFamily="34" charset="0"/>
                <a:ea typeface="Cambria" pitchFamily="34" charset="-122"/>
                <a:cs typeface="Cambria" pitchFamily="34" charset="-120"/>
              </a:rPr>
              <a:t>754</a:t>
            </a:r>
            <a:endParaRPr lang="en-US" sz="3600" dirty="0"/>
          </a:p>
        </p:txBody>
      </p:sp>
      <p:sp>
        <p:nvSpPr>
          <p:cNvPr id="14" name="Text 12"/>
          <p:cNvSpPr txBox="1"/>
          <p:nvPr/>
        </p:nvSpPr>
        <p:spPr>
          <a:xfrm>
            <a:off x="8321040" y="5257800"/>
            <a:ext cx="3017520" cy="320040"/>
          </a:xfrm>
          <a:prstGeom prst="rect">
            <a:avLst/>
          </a:prstGeom>
          <a:noFill/>
          <a:ln/>
        </p:spPr>
        <p:txBody>
          <a:bodyPr wrap="square" lIns="0" tIns="0" rIns="0" bIns="0" rtlCol="0" anchor="ctr"/>
          <a:lstStyle/>
          <a:p>
            <a:pPr marL="0" indent="0">
              <a:buNone/>
            </a:pPr>
            <a:r>
              <a:rPr lang="en-US" sz="1400" dirty="0">
                <a:solidFill>
                  <a:srgbClr val="CADCFC"/>
                </a:solidFill>
              </a:rPr>
              <a:t>Customers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Cleaning turned 9,989 rows into 9,872 usable rows</a:t>
            </a:r>
            <a:endParaRPr lang="en-US" sz="3200" dirty="0"/>
          </a:p>
        </p:txBody>
      </p:sp>
      <p:sp>
        <p:nvSpPr>
          <p:cNvPr id="3" name="left card"/>
          <p:cNvSpPr/>
          <p:nvPr/>
        </p:nvSpPr>
        <p:spPr>
          <a:xfrm>
            <a:off x="457200" y="1280160"/>
            <a:ext cx="3840480" cy="4846320"/>
          </a:xfrm>
          <a:prstGeom prst="roundRect">
            <a:avLst>
              <a:gd name="adj" fmla="val 1905"/>
            </a:avLst>
          </a:prstGeom>
          <a:solidFill>
            <a:schemeClr val="bg2"/>
          </a:solidFill>
          <a:ln w="12700">
            <a:solidFill>
              <a:schemeClr val="bg2"/>
            </a:solidFill>
            <a:prstDash val="solid"/>
          </a:ln>
        </p:spPr>
      </p:sp>
      <p:sp>
        <p:nvSpPr>
          <p:cNvPr id="4" name="Text 2"/>
          <p:cNvSpPr txBox="1"/>
          <p:nvPr/>
        </p:nvSpPr>
        <p:spPr>
          <a:xfrm>
            <a:off x="685800" y="1463040"/>
            <a:ext cx="3383280" cy="274320"/>
          </a:xfrm>
          <a:prstGeom prst="rect">
            <a:avLst/>
          </a:prstGeom>
          <a:noFill/>
          <a:ln/>
        </p:spPr>
        <p:txBody>
          <a:bodyPr wrap="square" lIns="0" tIns="0" rIns="0" bIns="0" rtlCol="0" anchor="ctr"/>
          <a:lstStyle/>
          <a:p>
            <a:pPr marL="0" indent="0">
              <a:buNone/>
            </a:pPr>
            <a:r>
              <a:rPr lang="en-US" sz="1400" dirty="0">
                <a:solidFill>
                  <a:srgbClr val="5B6B7B"/>
                </a:solidFill>
              </a:rPr>
              <a:t>Raw file</a:t>
            </a:r>
            <a:endParaRPr lang="en-US" sz="1400" dirty="0"/>
          </a:p>
        </p:txBody>
      </p:sp>
      <p:sp>
        <p:nvSpPr>
          <p:cNvPr id="5" name="Text 3"/>
          <p:cNvSpPr txBox="1"/>
          <p:nvPr/>
        </p:nvSpPr>
        <p:spPr>
          <a:xfrm>
            <a:off x="685800" y="1737360"/>
            <a:ext cx="3383280" cy="73152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9,989</a:t>
            </a:r>
            <a:endParaRPr lang="en-US" sz="4400" dirty="0"/>
          </a:p>
        </p:txBody>
      </p:sp>
      <p:sp>
        <p:nvSpPr>
          <p:cNvPr id="6" name="Text 4"/>
          <p:cNvSpPr txBox="1"/>
          <p:nvPr/>
        </p:nvSpPr>
        <p:spPr>
          <a:xfrm>
            <a:off x="685800" y="2743200"/>
            <a:ext cx="3383280" cy="274320"/>
          </a:xfrm>
          <a:prstGeom prst="rect">
            <a:avLst/>
          </a:prstGeom>
          <a:noFill/>
          <a:ln/>
        </p:spPr>
        <p:txBody>
          <a:bodyPr wrap="square" lIns="0" tIns="0" rIns="0" bIns="0" rtlCol="0" anchor="ctr"/>
          <a:lstStyle/>
          <a:p>
            <a:pPr marL="0" indent="0">
              <a:buNone/>
            </a:pPr>
            <a:r>
              <a:rPr lang="en-US" sz="1400" dirty="0">
                <a:solidFill>
                  <a:srgbClr val="5B6B7B"/>
                </a:solidFill>
              </a:rPr>
              <a:t>Clean file</a:t>
            </a:r>
            <a:endParaRPr lang="en-US" sz="1400" dirty="0"/>
          </a:p>
        </p:txBody>
      </p:sp>
      <p:sp>
        <p:nvSpPr>
          <p:cNvPr id="7" name="Text 5"/>
          <p:cNvSpPr txBox="1"/>
          <p:nvPr/>
        </p:nvSpPr>
        <p:spPr>
          <a:xfrm>
            <a:off x="685800" y="3017520"/>
            <a:ext cx="3383280" cy="731520"/>
          </a:xfrm>
          <a:prstGeom prst="rect">
            <a:avLst/>
          </a:prstGeom>
          <a:noFill/>
          <a:ln/>
        </p:spPr>
        <p:txBody>
          <a:bodyPr wrap="square" lIns="0" tIns="0" rIns="0" bIns="0" rtlCol="0" anchor="ctr"/>
          <a:lstStyle/>
          <a:p>
            <a:pPr marL="0" indent="0">
              <a:buNone/>
            </a:pPr>
            <a:r>
              <a:rPr lang="en-US" sz="4400" b="1" dirty="0">
                <a:solidFill>
                  <a:schemeClr val="accent3"/>
                </a:solidFill>
                <a:latin typeface="Cambria" pitchFamily="34" charset="0"/>
                <a:ea typeface="Cambria" pitchFamily="34" charset="-122"/>
                <a:cs typeface="Cambria" pitchFamily="34" charset="-120"/>
              </a:rPr>
              <a:t>9,872</a:t>
            </a:r>
            <a:endParaRPr lang="en-US" sz="4400" dirty="0"/>
          </a:p>
        </p:txBody>
      </p:sp>
      <p:sp>
        <p:nvSpPr>
          <p:cNvPr id="8" name="Text 6"/>
          <p:cNvSpPr txBox="1"/>
          <p:nvPr/>
        </p:nvSpPr>
        <p:spPr>
          <a:xfrm>
            <a:off x="685800" y="4114800"/>
            <a:ext cx="3383280" cy="1097280"/>
          </a:xfrm>
          <a:prstGeom prst="rect">
            <a:avLst/>
          </a:prstGeom>
          <a:noFill/>
          <a:ln/>
        </p:spPr>
        <p:txBody>
          <a:bodyPr wrap="square" lIns="0" tIns="0" rIns="0" bIns="0" rtlCol="0" anchor="t"/>
          <a:lstStyle/>
          <a:p>
            <a:pPr marL="0" indent="0">
              <a:buNone/>
            </a:pPr>
            <a:r>
              <a:rPr lang="en-US" sz="1400" dirty="0">
                <a:solidFill>
                  <a:schemeClr val="tx1"/>
                </a:solidFill>
              </a:rPr>
              <a:t>Sample data, Jan 2023 to Dec 2025. Tools: Python, Pandas, Matplotlib, SQL, Power BI.</a:t>
            </a:r>
            <a:endParaRPr lang="en-US" sz="1400" dirty="0"/>
          </a:p>
        </p:txBody>
      </p:sp>
      <p:sp>
        <p:nvSpPr>
          <p:cNvPr id="9" name="Text 7"/>
          <p:cNvSpPr txBox="1"/>
          <p:nvPr/>
        </p:nvSpPr>
        <p:spPr>
          <a:xfrm>
            <a:off x="685800" y="5394960"/>
            <a:ext cx="3383280" cy="365760"/>
          </a:xfrm>
          <a:prstGeom prst="rect">
            <a:avLst/>
          </a:prstGeom>
          <a:noFill/>
          <a:ln/>
        </p:spPr>
        <p:txBody>
          <a:bodyPr wrap="square" lIns="0" tIns="0" rIns="0" bIns="0" rtlCol="0" anchor="ctr"/>
          <a:lstStyle/>
          <a:p>
            <a:pPr marL="0" indent="0">
              <a:buNone/>
            </a:pPr>
            <a:r>
              <a:rPr lang="en-US" sz="1400" i="1" dirty="0">
                <a:solidFill>
                  <a:schemeClr val="accent1"/>
                </a:solidFill>
              </a:rPr>
              <a:t>Raw file is never changed.</a:t>
            </a:r>
            <a:endParaRPr lang="en-US" sz="1400" dirty="0"/>
          </a:p>
        </p:txBody>
      </p:sp>
      <p:sp>
        <p:nvSpPr>
          <p:cNvPr id="10" name="count circle"/>
          <p:cNvSpPr/>
          <p:nvPr/>
        </p:nvSpPr>
        <p:spPr>
          <a:xfrm>
            <a:off x="4663440" y="1353312"/>
            <a:ext cx="777240" cy="777240"/>
          </a:xfrm>
          <a:prstGeom prst="ellipse">
            <a:avLst/>
          </a:prstGeom>
          <a:solidFill>
            <a:schemeClr val="accent1"/>
          </a:solidFill>
          <a:ln w="12700">
            <a:solidFill>
              <a:schemeClr val="accent1"/>
            </a:solidFill>
            <a:prstDash val="solid"/>
          </a:ln>
        </p:spPr>
      </p:sp>
      <p:sp>
        <p:nvSpPr>
          <p:cNvPr id="11" name="Text 9"/>
          <p:cNvSpPr txBox="1"/>
          <p:nvPr/>
        </p:nvSpPr>
        <p:spPr>
          <a:xfrm>
            <a:off x="4663440" y="1353312"/>
            <a:ext cx="777240" cy="777240"/>
          </a:xfrm>
          <a:prstGeom prst="rect">
            <a:avLst/>
          </a:prstGeom>
          <a:noFill/>
          <a:ln/>
        </p:spPr>
        <p:txBody>
          <a:bodyPr wrap="square" lIns="0" tIns="0" rIns="0" bIns="0" rtlCol="0" anchor="ctr"/>
          <a:lstStyle/>
          <a:p>
            <a:pPr marL="0" indent="0" algn="ctr">
              <a:buNone/>
            </a:pPr>
            <a:r>
              <a:rPr lang="en-US" sz="1400" b="1" dirty="0">
                <a:solidFill>
                  <a:srgbClr val="FFFFFF"/>
                </a:solidFill>
              </a:rPr>
              <a:t>100</a:t>
            </a:r>
            <a:endParaRPr lang="en-US" sz="1400" dirty="0"/>
          </a:p>
        </p:txBody>
      </p:sp>
      <p:sp>
        <p:nvSpPr>
          <p:cNvPr id="12" name="Text 10"/>
          <p:cNvSpPr txBox="1"/>
          <p:nvPr/>
        </p:nvSpPr>
        <p:spPr>
          <a:xfrm>
            <a:off x="5623560" y="1280160"/>
            <a:ext cx="6035040" cy="868680"/>
          </a:xfrm>
          <a:prstGeom prst="rect">
            <a:avLst/>
          </a:prstGeom>
          <a:noFill/>
          <a:ln/>
        </p:spPr>
        <p:txBody>
          <a:bodyPr wrap="square" lIns="0" tIns="0" rIns="0" bIns="0" rtlCol="0" anchor="ctr"/>
          <a:lstStyle/>
          <a:p>
            <a:pPr marL="0" indent="0">
              <a:buNone/>
            </a:pPr>
            <a:r>
              <a:rPr lang="en-US" sz="1600" b="1" dirty="0">
                <a:solidFill>
                  <a:schemeClr val="tx1"/>
                </a:solidFill>
              </a:rPr>
              <a:t>duplicate rows</a:t>
            </a:r>
            <a:endParaRPr lang="en-US" sz="1600" dirty="0"/>
          </a:p>
          <a:p>
            <a:pPr marL="0" indent="0">
              <a:buNone/>
            </a:pPr>
            <a:r>
              <a:rPr lang="en-US" sz="1600" dirty="0">
                <a:solidFill>
                  <a:srgbClr val="5B6B7B"/>
                </a:solidFill>
              </a:rPr>
              <a:t>Fix: removed</a:t>
            </a:r>
            <a:endParaRPr lang="en-US" sz="1600" dirty="0"/>
          </a:p>
        </p:txBody>
      </p:sp>
      <p:sp>
        <p:nvSpPr>
          <p:cNvPr id="13" name="count circle"/>
          <p:cNvSpPr/>
          <p:nvPr/>
        </p:nvSpPr>
        <p:spPr>
          <a:xfrm>
            <a:off x="4663440" y="2331720"/>
            <a:ext cx="777240" cy="777240"/>
          </a:xfrm>
          <a:prstGeom prst="ellipse">
            <a:avLst/>
          </a:prstGeom>
          <a:solidFill>
            <a:schemeClr val="accent1"/>
          </a:solidFill>
          <a:ln w="12700">
            <a:solidFill>
              <a:schemeClr val="accent1"/>
            </a:solidFill>
            <a:prstDash val="solid"/>
          </a:ln>
        </p:spPr>
      </p:sp>
      <p:sp>
        <p:nvSpPr>
          <p:cNvPr id="14" name="Text 12"/>
          <p:cNvSpPr txBox="1"/>
          <p:nvPr/>
        </p:nvSpPr>
        <p:spPr>
          <a:xfrm>
            <a:off x="4663440" y="2331720"/>
            <a:ext cx="777240" cy="777240"/>
          </a:xfrm>
          <a:prstGeom prst="rect">
            <a:avLst/>
          </a:prstGeom>
          <a:noFill/>
          <a:ln/>
        </p:spPr>
        <p:txBody>
          <a:bodyPr wrap="square" lIns="0" tIns="0" rIns="0" bIns="0" rtlCol="0" anchor="ctr"/>
          <a:lstStyle/>
          <a:p>
            <a:pPr marL="0" indent="0" algn="ctr">
              <a:buNone/>
            </a:pPr>
            <a:r>
              <a:rPr lang="en-US" sz="1400" b="1" dirty="0">
                <a:solidFill>
                  <a:srgbClr val="FFFFFF"/>
                </a:solidFill>
              </a:rPr>
              <a:t>17</a:t>
            </a:r>
            <a:endParaRPr lang="en-US" sz="1400" dirty="0"/>
          </a:p>
        </p:txBody>
      </p:sp>
      <p:sp>
        <p:nvSpPr>
          <p:cNvPr id="15" name="Text 13"/>
          <p:cNvSpPr txBox="1"/>
          <p:nvPr/>
        </p:nvSpPr>
        <p:spPr>
          <a:xfrm>
            <a:off x="5623560" y="2258568"/>
            <a:ext cx="6035040" cy="868680"/>
          </a:xfrm>
          <a:prstGeom prst="rect">
            <a:avLst/>
          </a:prstGeom>
          <a:noFill/>
          <a:ln/>
        </p:spPr>
        <p:txBody>
          <a:bodyPr wrap="square" lIns="0" tIns="0" rIns="0" bIns="0" rtlCol="0" anchor="ctr"/>
          <a:lstStyle/>
          <a:p>
            <a:pPr marL="0" indent="0">
              <a:buNone/>
            </a:pPr>
            <a:r>
              <a:rPr lang="en-US" sz="1600" b="1" dirty="0">
                <a:solidFill>
                  <a:schemeClr val="tx1"/>
                </a:solidFill>
              </a:rPr>
              <a:t>missing or impossible dates</a:t>
            </a:r>
            <a:endParaRPr lang="en-US" sz="1600" dirty="0"/>
          </a:p>
          <a:p>
            <a:pPr marL="0" indent="0">
              <a:buNone/>
            </a:pPr>
            <a:r>
              <a:rPr lang="en-US" sz="1600" dirty="0">
                <a:solidFill>
                  <a:srgbClr val="5B6B7B"/>
                </a:solidFill>
              </a:rPr>
              <a:t>Fix: rows removed</a:t>
            </a:r>
            <a:endParaRPr lang="en-US" sz="1600" dirty="0"/>
          </a:p>
        </p:txBody>
      </p:sp>
      <p:sp>
        <p:nvSpPr>
          <p:cNvPr id="16" name="count circle"/>
          <p:cNvSpPr/>
          <p:nvPr/>
        </p:nvSpPr>
        <p:spPr>
          <a:xfrm>
            <a:off x="4663440" y="3310128"/>
            <a:ext cx="777240" cy="777240"/>
          </a:xfrm>
          <a:prstGeom prst="ellipse">
            <a:avLst/>
          </a:prstGeom>
          <a:solidFill>
            <a:schemeClr val="accent1"/>
          </a:solidFill>
          <a:ln w="12700">
            <a:solidFill>
              <a:schemeClr val="accent1"/>
            </a:solidFill>
            <a:prstDash val="solid"/>
          </a:ln>
        </p:spPr>
      </p:sp>
      <p:sp>
        <p:nvSpPr>
          <p:cNvPr id="17" name="Text 15"/>
          <p:cNvSpPr txBox="1"/>
          <p:nvPr/>
        </p:nvSpPr>
        <p:spPr>
          <a:xfrm>
            <a:off x="4663440" y="3310128"/>
            <a:ext cx="777240" cy="777240"/>
          </a:xfrm>
          <a:prstGeom prst="rect">
            <a:avLst/>
          </a:prstGeom>
          <a:noFill/>
          <a:ln/>
        </p:spPr>
        <p:txBody>
          <a:bodyPr wrap="square" lIns="0" tIns="0" rIns="0" bIns="0" rtlCol="0" anchor="ctr"/>
          <a:lstStyle/>
          <a:p>
            <a:pPr marL="0" indent="0" algn="ctr">
              <a:buNone/>
            </a:pPr>
            <a:r>
              <a:rPr lang="en-US" sz="1400" b="1" dirty="0">
                <a:solidFill>
                  <a:srgbClr val="FFFFFF"/>
                </a:solidFill>
              </a:rPr>
              <a:t>195</a:t>
            </a:r>
            <a:endParaRPr lang="en-US" sz="1400" dirty="0"/>
          </a:p>
        </p:txBody>
      </p:sp>
      <p:sp>
        <p:nvSpPr>
          <p:cNvPr id="18" name="Text 16"/>
          <p:cNvSpPr txBox="1"/>
          <p:nvPr/>
        </p:nvSpPr>
        <p:spPr>
          <a:xfrm>
            <a:off x="5623560" y="3236976"/>
            <a:ext cx="6035040" cy="868680"/>
          </a:xfrm>
          <a:prstGeom prst="rect">
            <a:avLst/>
          </a:prstGeom>
          <a:noFill/>
          <a:ln/>
        </p:spPr>
        <p:txBody>
          <a:bodyPr wrap="square" lIns="0" tIns="0" rIns="0" bIns="0" rtlCol="0" anchor="ctr"/>
          <a:lstStyle/>
          <a:p>
            <a:pPr marL="0" indent="0">
              <a:buNone/>
            </a:pPr>
            <a:r>
              <a:rPr lang="en-US" sz="1600" b="1" dirty="0">
                <a:solidFill>
                  <a:schemeClr val="tx1"/>
                </a:solidFill>
              </a:rPr>
              <a:t>empty cells (Region, Discount, Ship mode)</a:t>
            </a:r>
            <a:endParaRPr lang="en-US" sz="1600" dirty="0"/>
          </a:p>
          <a:p>
            <a:pPr marL="0" indent="0">
              <a:buNone/>
            </a:pPr>
            <a:r>
              <a:rPr lang="en-US" sz="1600" dirty="0">
                <a:solidFill>
                  <a:srgbClr val="5B6B7B"/>
                </a:solidFill>
              </a:rPr>
              <a:t>Fix: filled</a:t>
            </a:r>
            <a:endParaRPr lang="en-US" sz="1600" dirty="0"/>
          </a:p>
        </p:txBody>
      </p:sp>
      <p:sp>
        <p:nvSpPr>
          <p:cNvPr id="19" name="count circle"/>
          <p:cNvSpPr/>
          <p:nvPr/>
        </p:nvSpPr>
        <p:spPr>
          <a:xfrm>
            <a:off x="4663440" y="4288536"/>
            <a:ext cx="777240" cy="777240"/>
          </a:xfrm>
          <a:prstGeom prst="ellipse">
            <a:avLst/>
          </a:prstGeom>
          <a:solidFill>
            <a:schemeClr val="accent1"/>
          </a:solidFill>
          <a:ln w="12700">
            <a:solidFill>
              <a:schemeClr val="accent1"/>
            </a:solidFill>
            <a:prstDash val="solid"/>
          </a:ln>
        </p:spPr>
      </p:sp>
      <p:sp>
        <p:nvSpPr>
          <p:cNvPr id="20" name="Text 18"/>
          <p:cNvSpPr txBox="1"/>
          <p:nvPr/>
        </p:nvSpPr>
        <p:spPr>
          <a:xfrm>
            <a:off x="4663440" y="4288536"/>
            <a:ext cx="777240" cy="777240"/>
          </a:xfrm>
          <a:prstGeom prst="rect">
            <a:avLst/>
          </a:prstGeom>
          <a:noFill/>
          <a:ln/>
        </p:spPr>
        <p:txBody>
          <a:bodyPr wrap="square" lIns="0" tIns="0" rIns="0" bIns="0" rtlCol="0" anchor="ctr"/>
          <a:lstStyle/>
          <a:p>
            <a:pPr marL="0" indent="0" algn="ctr">
              <a:buNone/>
            </a:pPr>
            <a:r>
              <a:rPr lang="en-US" sz="1400" b="1" dirty="0">
                <a:solidFill>
                  <a:srgbClr val="FFFFFF"/>
                </a:solidFill>
              </a:rPr>
              <a:t>20</a:t>
            </a:r>
            <a:endParaRPr lang="en-US" sz="1400" dirty="0"/>
          </a:p>
        </p:txBody>
      </p:sp>
      <p:sp>
        <p:nvSpPr>
          <p:cNvPr id="21" name="Text 19"/>
          <p:cNvSpPr txBox="1"/>
          <p:nvPr/>
        </p:nvSpPr>
        <p:spPr>
          <a:xfrm>
            <a:off x="5623560" y="4215384"/>
            <a:ext cx="6035040" cy="868680"/>
          </a:xfrm>
          <a:prstGeom prst="rect">
            <a:avLst/>
          </a:prstGeom>
          <a:noFill/>
          <a:ln/>
        </p:spPr>
        <p:txBody>
          <a:bodyPr wrap="square" lIns="0" tIns="0" rIns="0" bIns="0" rtlCol="0" anchor="ctr"/>
          <a:lstStyle/>
          <a:p>
            <a:pPr marL="0" indent="0">
              <a:buNone/>
            </a:pPr>
            <a:r>
              <a:rPr lang="en-US" sz="1600" b="1" dirty="0">
                <a:solidFill>
                  <a:schemeClr val="tx1"/>
                </a:solidFill>
              </a:rPr>
              <a:t>sales with wrong minus sign</a:t>
            </a:r>
            <a:endParaRPr lang="en-US" sz="1600" dirty="0"/>
          </a:p>
          <a:p>
            <a:pPr marL="0" indent="0">
              <a:buNone/>
            </a:pPr>
            <a:r>
              <a:rPr lang="en-US" sz="1600" dirty="0">
                <a:solidFill>
                  <a:srgbClr val="5B6B7B"/>
                </a:solidFill>
              </a:rPr>
              <a:t>Fix: calculated again</a:t>
            </a:r>
            <a:endParaRPr lang="en-US" sz="1600" dirty="0"/>
          </a:p>
        </p:txBody>
      </p:sp>
      <p:sp>
        <p:nvSpPr>
          <p:cNvPr id="22" name="count circle"/>
          <p:cNvSpPr/>
          <p:nvPr/>
        </p:nvSpPr>
        <p:spPr>
          <a:xfrm>
            <a:off x="4663440" y="5266944"/>
            <a:ext cx="777240" cy="777240"/>
          </a:xfrm>
          <a:prstGeom prst="ellipse">
            <a:avLst/>
          </a:prstGeom>
          <a:solidFill>
            <a:schemeClr val="accent1"/>
          </a:solidFill>
          <a:ln w="12700">
            <a:solidFill>
              <a:schemeClr val="accent1"/>
            </a:solidFill>
            <a:prstDash val="solid"/>
          </a:ln>
        </p:spPr>
      </p:sp>
      <p:sp>
        <p:nvSpPr>
          <p:cNvPr id="23" name="Text 21"/>
          <p:cNvSpPr txBox="1"/>
          <p:nvPr/>
        </p:nvSpPr>
        <p:spPr>
          <a:xfrm>
            <a:off x="4663440" y="5266944"/>
            <a:ext cx="777240" cy="777240"/>
          </a:xfrm>
          <a:prstGeom prst="rect">
            <a:avLst/>
          </a:prstGeom>
          <a:noFill/>
          <a:ln/>
        </p:spPr>
        <p:txBody>
          <a:bodyPr wrap="square" lIns="0" tIns="0" rIns="0" bIns="0" rtlCol="0" anchor="ctr"/>
          <a:lstStyle/>
          <a:p>
            <a:pPr marL="0" indent="0" algn="ctr">
              <a:buNone/>
            </a:pPr>
            <a:r>
              <a:rPr lang="en-US" sz="1400" b="1" dirty="0">
                <a:solidFill>
                  <a:srgbClr val="FFFFFF"/>
                </a:solidFill>
              </a:rPr>
              <a:t>many</a:t>
            </a:r>
            <a:endParaRPr lang="en-US" sz="1400" dirty="0"/>
          </a:p>
        </p:txBody>
      </p:sp>
      <p:sp>
        <p:nvSpPr>
          <p:cNvPr id="24" name="Text 22"/>
          <p:cNvSpPr txBox="1"/>
          <p:nvPr/>
        </p:nvSpPr>
        <p:spPr>
          <a:xfrm>
            <a:off x="5623560" y="5193792"/>
            <a:ext cx="6035040" cy="868680"/>
          </a:xfrm>
          <a:prstGeom prst="rect">
            <a:avLst/>
          </a:prstGeom>
          <a:noFill/>
          <a:ln/>
        </p:spPr>
        <p:txBody>
          <a:bodyPr wrap="square" lIns="0" tIns="0" rIns="0" bIns="0" rtlCol="0" anchor="ctr"/>
          <a:lstStyle/>
          <a:p>
            <a:pPr marL="0" indent="0">
              <a:buNone/>
            </a:pPr>
            <a:r>
              <a:rPr lang="en-US" sz="1600" b="1" dirty="0">
                <a:solidFill>
                  <a:schemeClr val="tx1"/>
                </a:solidFill>
              </a:rPr>
              <a:t>spellings like TECHNOLOGY / technology</a:t>
            </a:r>
            <a:endParaRPr lang="en-US" sz="1600" dirty="0"/>
          </a:p>
          <a:p>
            <a:pPr marL="0" indent="0">
              <a:buNone/>
            </a:pPr>
            <a:r>
              <a:rPr lang="en-US" sz="1600" dirty="0">
                <a:solidFill>
                  <a:srgbClr val="5B6B7B"/>
                </a:solidFill>
              </a:rPr>
              <a:t>Fix: made the same</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Sales grew 30% in 2024 and 31% in 2025</a:t>
            </a:r>
            <a:endParaRPr lang="en-US" sz="3200" dirty="0"/>
          </a:p>
        </p:txBody>
      </p:sp>
      <p:sp>
        <p:nvSpPr>
          <p:cNvPr id="3" name="chart title"/>
          <p:cNvSpPr txBox="1"/>
          <p:nvPr/>
        </p:nvSpPr>
        <p:spPr>
          <a:xfrm>
            <a:off x="457200" y="1188720"/>
            <a:ext cx="6400800" cy="274320"/>
          </a:xfrm>
          <a:prstGeom prst="rect">
            <a:avLst/>
          </a:prstGeom>
          <a:noFill/>
          <a:ln/>
        </p:spPr>
        <p:txBody>
          <a:bodyPr wrap="square" lIns="0" tIns="0" rIns="0" bIns="0" rtlCol="0" anchor="ctr"/>
          <a:lstStyle/>
          <a:p>
            <a:pPr marL="0" indent="0">
              <a:buNone/>
            </a:pPr>
            <a:r>
              <a:rPr lang="en-US" sz="1400" b="1" dirty="0">
                <a:solidFill>
                  <a:schemeClr val="tx1"/>
                </a:solidFill>
              </a:rPr>
              <a:t>Sales every month (₹ lakh)</a:t>
            </a:r>
            <a:endParaRPr lang="en-US" sz="1400" dirty="0"/>
          </a:p>
        </p:txBody>
      </p:sp>
      <p:graphicFrame>
        <p:nvGraphicFramePr>
          <p:cNvPr id="4" name="Chart 0"/>
          <p:cNvGraphicFramePr/>
          <p:nvPr/>
        </p:nvGraphicFramePr>
        <p:xfrm>
          <a:off x="457200" y="150876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tat card"/>
          <p:cNvSpPr/>
          <p:nvPr/>
        </p:nvSpPr>
        <p:spPr>
          <a:xfrm>
            <a:off x="8321040" y="1280160"/>
            <a:ext cx="3383280" cy="1051560"/>
          </a:xfrm>
          <a:prstGeom prst="roundRect">
            <a:avLst>
              <a:gd name="adj" fmla="val 6957"/>
            </a:avLst>
          </a:prstGeom>
          <a:solidFill>
            <a:schemeClr val="bg2"/>
          </a:solidFill>
          <a:ln w="12700">
            <a:solidFill>
              <a:schemeClr val="bg2"/>
            </a:solidFill>
            <a:prstDash val="solid"/>
          </a:ln>
        </p:spPr>
      </p:sp>
      <p:sp>
        <p:nvSpPr>
          <p:cNvPr id="6" name="Text 3"/>
          <p:cNvSpPr txBox="1"/>
          <p:nvPr/>
        </p:nvSpPr>
        <p:spPr>
          <a:xfrm>
            <a:off x="8458200" y="1371600"/>
            <a:ext cx="3108960" cy="548640"/>
          </a:xfrm>
          <a:prstGeom prst="rect">
            <a:avLst/>
          </a:prstGeom>
          <a:noFill/>
          <a:ln/>
        </p:spPr>
        <p:txBody>
          <a:bodyPr wrap="square" lIns="0" tIns="0" rIns="0" bIns="0" rtlCol="0" anchor="ctr"/>
          <a:lstStyle/>
          <a:p>
            <a:pPr marL="0" indent="0">
              <a:buNone/>
            </a:pPr>
            <a:r>
              <a:rPr lang="en-US" sz="2800" b="1" dirty="0">
                <a:solidFill>
                  <a:srgbClr val="1C7293"/>
                </a:solidFill>
                <a:latin typeface="Cambria" pitchFamily="34" charset="0"/>
                <a:ea typeface="Cambria" pitchFamily="34" charset="-122"/>
                <a:cs typeface="Cambria" pitchFamily="34" charset="-120"/>
              </a:rPr>
              <a:t>₹12.77 cr</a:t>
            </a:r>
            <a:endParaRPr lang="en-US" sz="2800" dirty="0"/>
          </a:p>
        </p:txBody>
      </p:sp>
      <p:sp>
        <p:nvSpPr>
          <p:cNvPr id="7" name="Text 4"/>
          <p:cNvSpPr txBox="1"/>
          <p:nvPr/>
        </p:nvSpPr>
        <p:spPr>
          <a:xfrm>
            <a:off x="8458200" y="1938528"/>
            <a:ext cx="3108960" cy="292608"/>
          </a:xfrm>
          <a:prstGeom prst="rect">
            <a:avLst/>
          </a:prstGeom>
          <a:noFill/>
          <a:ln/>
        </p:spPr>
        <p:txBody>
          <a:bodyPr wrap="square" lIns="0" tIns="0" rIns="0" bIns="0" rtlCol="0" anchor="ctr"/>
          <a:lstStyle/>
          <a:p>
            <a:pPr marL="0" indent="0">
              <a:buNone/>
            </a:pPr>
            <a:r>
              <a:rPr lang="en-US" sz="1200" dirty="0">
                <a:solidFill>
                  <a:srgbClr val="5B6B7B"/>
                </a:solidFill>
              </a:rPr>
              <a:t>Total sales</a:t>
            </a:r>
            <a:endParaRPr lang="en-US" sz="1200" dirty="0"/>
          </a:p>
        </p:txBody>
      </p:sp>
      <p:sp>
        <p:nvSpPr>
          <p:cNvPr id="8" name="stat card"/>
          <p:cNvSpPr/>
          <p:nvPr/>
        </p:nvSpPr>
        <p:spPr>
          <a:xfrm>
            <a:off x="8321040" y="2514600"/>
            <a:ext cx="3383280"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8458200" y="2606040"/>
            <a:ext cx="3108960" cy="548640"/>
          </a:xfrm>
          <a:prstGeom prst="rect">
            <a:avLst/>
          </a:prstGeom>
          <a:noFill/>
          <a:ln/>
        </p:spPr>
        <p:txBody>
          <a:bodyPr wrap="square" lIns="0" tIns="0" rIns="0" bIns="0" rtlCol="0" anchor="ctr"/>
          <a:lstStyle/>
          <a:p>
            <a:pPr marL="0" indent="0">
              <a:buNone/>
            </a:pPr>
            <a:r>
              <a:rPr lang="en-US" sz="2800" b="1" dirty="0">
                <a:solidFill>
                  <a:srgbClr val="2E9E6B"/>
                </a:solidFill>
                <a:latin typeface="Cambria" pitchFamily="34" charset="0"/>
                <a:ea typeface="Cambria" pitchFamily="34" charset="-122"/>
                <a:cs typeface="Cambria" pitchFamily="34" charset="-120"/>
              </a:rPr>
              <a:t>₹1.64 cr</a:t>
            </a:r>
            <a:endParaRPr lang="en-US" sz="2800" dirty="0"/>
          </a:p>
        </p:txBody>
      </p:sp>
      <p:sp>
        <p:nvSpPr>
          <p:cNvPr id="10" name="Text 7"/>
          <p:cNvSpPr txBox="1"/>
          <p:nvPr/>
        </p:nvSpPr>
        <p:spPr>
          <a:xfrm>
            <a:off x="8458200" y="3172968"/>
            <a:ext cx="3108960" cy="292608"/>
          </a:xfrm>
          <a:prstGeom prst="rect">
            <a:avLst/>
          </a:prstGeom>
          <a:noFill/>
          <a:ln/>
        </p:spPr>
        <p:txBody>
          <a:bodyPr wrap="square" lIns="0" tIns="0" rIns="0" bIns="0" rtlCol="0" anchor="ctr"/>
          <a:lstStyle/>
          <a:p>
            <a:pPr marL="0" indent="0">
              <a:buNone/>
            </a:pPr>
            <a:r>
              <a:rPr lang="en-US" sz="1200" dirty="0">
                <a:solidFill>
                  <a:srgbClr val="5B6B7B"/>
                </a:solidFill>
              </a:rPr>
              <a:t>Total profit (12.9% of sales)</a:t>
            </a:r>
            <a:endParaRPr lang="en-US" sz="1200" dirty="0"/>
          </a:p>
        </p:txBody>
      </p:sp>
      <p:sp>
        <p:nvSpPr>
          <p:cNvPr id="11" name="stat card"/>
          <p:cNvSpPr/>
          <p:nvPr/>
        </p:nvSpPr>
        <p:spPr>
          <a:xfrm>
            <a:off x="8321040" y="3749040"/>
            <a:ext cx="3383280" cy="1051560"/>
          </a:xfrm>
          <a:prstGeom prst="roundRect">
            <a:avLst>
              <a:gd name="adj" fmla="val 6957"/>
            </a:avLst>
          </a:prstGeom>
          <a:solidFill>
            <a:schemeClr val="bg2"/>
          </a:solidFill>
          <a:ln w="12700">
            <a:solidFill>
              <a:schemeClr val="bg2"/>
            </a:solidFill>
            <a:prstDash val="solid"/>
          </a:ln>
        </p:spPr>
      </p:sp>
      <p:sp>
        <p:nvSpPr>
          <p:cNvPr id="12" name="Text 9"/>
          <p:cNvSpPr txBox="1"/>
          <p:nvPr/>
        </p:nvSpPr>
        <p:spPr>
          <a:xfrm>
            <a:off x="8458200" y="3840480"/>
            <a:ext cx="3108960" cy="548640"/>
          </a:xfrm>
          <a:prstGeom prst="rect">
            <a:avLst/>
          </a:prstGeom>
          <a:noFill/>
          <a:ln/>
        </p:spPr>
        <p:txBody>
          <a:bodyPr wrap="square" lIns="0" tIns="0" rIns="0" bIns="0" rtlCol="0" anchor="ctr"/>
          <a:lstStyle/>
          <a:p>
            <a:pPr marL="0" indent="0">
              <a:buNone/>
            </a:pPr>
            <a:r>
              <a:rPr lang="en-US" sz="2800" b="1" dirty="0">
                <a:solidFill>
                  <a:srgbClr val="4A6FA5"/>
                </a:solidFill>
                <a:latin typeface="Cambria" pitchFamily="34" charset="0"/>
                <a:ea typeface="Cambria" pitchFamily="34" charset="-122"/>
                <a:cs typeface="Cambria" pitchFamily="34" charset="-120"/>
              </a:rPr>
              <a:t>4,396</a:t>
            </a:r>
            <a:endParaRPr lang="en-US" sz="2800" dirty="0"/>
          </a:p>
        </p:txBody>
      </p:sp>
      <p:sp>
        <p:nvSpPr>
          <p:cNvPr id="13" name="Text 10"/>
          <p:cNvSpPr txBox="1"/>
          <p:nvPr/>
        </p:nvSpPr>
        <p:spPr>
          <a:xfrm>
            <a:off x="8458200" y="4407408"/>
            <a:ext cx="3108960" cy="292608"/>
          </a:xfrm>
          <a:prstGeom prst="rect">
            <a:avLst/>
          </a:prstGeom>
          <a:noFill/>
          <a:ln/>
        </p:spPr>
        <p:txBody>
          <a:bodyPr wrap="square" lIns="0" tIns="0" rIns="0" bIns="0" rtlCol="0" anchor="ctr"/>
          <a:lstStyle/>
          <a:p>
            <a:pPr marL="0" indent="0">
              <a:buNone/>
            </a:pPr>
            <a:r>
              <a:rPr lang="en-US" sz="1200" dirty="0">
                <a:solidFill>
                  <a:srgbClr val="5B6B7B"/>
                </a:solidFill>
              </a:rPr>
              <a:t>Orders from 754 customers</a:t>
            </a:r>
            <a:endParaRPr lang="en-US" sz="1200" dirty="0"/>
          </a:p>
        </p:txBody>
      </p:sp>
      <p:sp>
        <p:nvSpPr>
          <p:cNvPr id="14" name="stat card"/>
          <p:cNvSpPr/>
          <p:nvPr/>
        </p:nvSpPr>
        <p:spPr>
          <a:xfrm>
            <a:off x="8321040" y="4983480"/>
            <a:ext cx="3383280" cy="1051560"/>
          </a:xfrm>
          <a:prstGeom prst="roundRect">
            <a:avLst>
              <a:gd name="adj" fmla="val 6957"/>
            </a:avLst>
          </a:prstGeom>
          <a:solidFill>
            <a:schemeClr val="bg2"/>
          </a:solidFill>
          <a:ln w="12700">
            <a:solidFill>
              <a:schemeClr val="bg2"/>
            </a:solidFill>
            <a:prstDash val="solid"/>
          </a:ln>
        </p:spPr>
      </p:sp>
      <p:sp>
        <p:nvSpPr>
          <p:cNvPr id="15" name="Text 12"/>
          <p:cNvSpPr txBox="1"/>
          <p:nvPr/>
        </p:nvSpPr>
        <p:spPr>
          <a:xfrm>
            <a:off x="8458200" y="5074920"/>
            <a:ext cx="3108960" cy="548640"/>
          </a:xfrm>
          <a:prstGeom prst="rect">
            <a:avLst/>
          </a:prstGeom>
          <a:noFill/>
          <a:ln/>
        </p:spPr>
        <p:txBody>
          <a:bodyPr wrap="square" lIns="0" tIns="0" rIns="0" bIns="0" rtlCol="0" anchor="ctr"/>
          <a:lstStyle/>
          <a:p>
            <a:pPr marL="0" indent="0">
              <a:buNone/>
            </a:pPr>
            <a:r>
              <a:rPr lang="en-US" sz="2800" b="1" dirty="0">
                <a:solidFill>
                  <a:srgbClr val="F28C28"/>
                </a:solidFill>
                <a:latin typeface="Cambria" pitchFamily="34" charset="0"/>
                <a:ea typeface="Cambria" pitchFamily="34" charset="-122"/>
                <a:cs typeface="Cambria" pitchFamily="34" charset="-120"/>
              </a:rPr>
              <a:t>Dec 2025</a:t>
            </a:r>
            <a:endParaRPr lang="en-US" sz="2800" dirty="0"/>
          </a:p>
        </p:txBody>
      </p:sp>
      <p:sp>
        <p:nvSpPr>
          <p:cNvPr id="16" name="Text 13"/>
          <p:cNvSpPr txBox="1"/>
          <p:nvPr/>
        </p:nvSpPr>
        <p:spPr>
          <a:xfrm>
            <a:off x="8458200" y="5641848"/>
            <a:ext cx="3108960" cy="292608"/>
          </a:xfrm>
          <a:prstGeom prst="rect">
            <a:avLst/>
          </a:prstGeom>
          <a:noFill/>
          <a:ln/>
        </p:spPr>
        <p:txBody>
          <a:bodyPr wrap="square" lIns="0" tIns="0" rIns="0" bIns="0" rtlCol="0" anchor="ctr"/>
          <a:lstStyle/>
          <a:p>
            <a:pPr marL="0" indent="0">
              <a:buNone/>
            </a:pPr>
            <a:r>
              <a:rPr lang="en-US" sz="1200" dirty="0">
                <a:solidFill>
                  <a:srgbClr val="5B6B7B"/>
                </a:solidFill>
              </a:rPr>
              <a:t>Best month - sales peak at year end</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Profit is low in Furniture, the West region and big discounts</a:t>
            </a:r>
            <a:endParaRPr lang="en-US" sz="3200" dirty="0"/>
          </a:p>
        </p:txBody>
      </p:sp>
      <p:sp>
        <p:nvSpPr>
          <p:cNvPr id="3" name="chart card"/>
          <p:cNvSpPr/>
          <p:nvPr/>
        </p:nvSpPr>
        <p:spPr>
          <a:xfrm>
            <a:off x="457200" y="1188720"/>
            <a:ext cx="3611880" cy="5120640"/>
          </a:xfrm>
          <a:prstGeom prst="roundRect">
            <a:avLst>
              <a:gd name="adj" fmla="val 2025"/>
            </a:avLst>
          </a:prstGeom>
          <a:solidFill>
            <a:schemeClr val="bg2"/>
          </a:solidFill>
          <a:ln w="12700">
            <a:solidFill>
              <a:schemeClr val="bg2"/>
            </a:solidFill>
            <a:prstDash val="solid"/>
          </a:ln>
        </p:spPr>
      </p:sp>
      <p:sp>
        <p:nvSpPr>
          <p:cNvPr id="4" name="chart title"/>
          <p:cNvSpPr txBox="1"/>
          <p:nvPr/>
        </p:nvSpPr>
        <p:spPr>
          <a:xfrm>
            <a:off x="640080" y="132588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Profit margin % by category</a:t>
            </a:r>
            <a:endParaRPr lang="en-US" sz="1400" dirty="0"/>
          </a:p>
        </p:txBody>
      </p:sp>
      <p:graphicFrame>
        <p:nvGraphicFramePr>
          <p:cNvPr id="5" name="Chart 0"/>
          <p:cNvGraphicFramePr/>
          <p:nvPr/>
        </p:nvGraphicFramePr>
        <p:xfrm>
          <a:off x="548640" y="1691640"/>
          <a:ext cx="34290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40080" y="4846320"/>
            <a:ext cx="3246120" cy="1280160"/>
          </a:xfrm>
          <a:prstGeom prst="rect">
            <a:avLst/>
          </a:prstGeom>
          <a:noFill/>
          <a:ln/>
        </p:spPr>
        <p:txBody>
          <a:bodyPr wrap="square" lIns="0" tIns="0" rIns="0" bIns="0" rtlCol="0" anchor="t"/>
          <a:lstStyle/>
          <a:p>
            <a:pPr marL="0" indent="0">
              <a:buNone/>
            </a:pPr>
            <a:r>
              <a:rPr lang="en-US" sz="1400" dirty="0">
                <a:solidFill>
                  <a:schemeClr val="tx1"/>
                </a:solidFill>
              </a:rPr>
              <a:t>Furniture earns almost nothing (-0.04%).</a:t>
            </a:r>
            <a:endParaRPr lang="en-US" sz="1400" dirty="0"/>
          </a:p>
        </p:txBody>
      </p:sp>
      <p:sp>
        <p:nvSpPr>
          <p:cNvPr id="7" name="chart card"/>
          <p:cNvSpPr/>
          <p:nvPr/>
        </p:nvSpPr>
        <p:spPr>
          <a:xfrm>
            <a:off x="4279392" y="1188720"/>
            <a:ext cx="3611880" cy="5120640"/>
          </a:xfrm>
          <a:prstGeom prst="roundRect">
            <a:avLst>
              <a:gd name="adj" fmla="val 2025"/>
            </a:avLst>
          </a:prstGeom>
          <a:solidFill>
            <a:schemeClr val="bg2"/>
          </a:solidFill>
          <a:ln w="12700">
            <a:solidFill>
              <a:schemeClr val="bg2"/>
            </a:solidFill>
            <a:prstDash val="solid"/>
          </a:ln>
        </p:spPr>
      </p:sp>
      <p:sp>
        <p:nvSpPr>
          <p:cNvPr id="8" name="chart title"/>
          <p:cNvSpPr txBox="1"/>
          <p:nvPr/>
        </p:nvSpPr>
        <p:spPr>
          <a:xfrm>
            <a:off x="4462272" y="132588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Profit margin % by region</a:t>
            </a:r>
            <a:endParaRPr lang="en-US" sz="1400" dirty="0"/>
          </a:p>
        </p:txBody>
      </p:sp>
      <p:graphicFrame>
        <p:nvGraphicFramePr>
          <p:cNvPr id="9" name="Chart 1"/>
          <p:cNvGraphicFramePr/>
          <p:nvPr/>
        </p:nvGraphicFramePr>
        <p:xfrm>
          <a:off x="4370832" y="1691640"/>
          <a:ext cx="34290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txBox="1"/>
          <p:nvPr/>
        </p:nvSpPr>
        <p:spPr>
          <a:xfrm>
            <a:off x="4462272" y="4846320"/>
            <a:ext cx="3246120" cy="1280160"/>
          </a:xfrm>
          <a:prstGeom prst="rect">
            <a:avLst/>
          </a:prstGeom>
          <a:noFill/>
          <a:ln/>
        </p:spPr>
        <p:txBody>
          <a:bodyPr wrap="square" lIns="0" tIns="0" rIns="0" bIns="0" rtlCol="0" anchor="t"/>
          <a:lstStyle/>
          <a:p>
            <a:pPr marL="0" indent="0">
              <a:buNone/>
            </a:pPr>
            <a:r>
              <a:rPr lang="en-US" sz="1400" dirty="0">
                <a:solidFill>
                  <a:schemeClr val="tx1"/>
                </a:solidFill>
              </a:rPr>
              <a:t>West is lowest (10.9% vs about 13.5%). It gives 11% average discount vs 7.8%.</a:t>
            </a:r>
            <a:endParaRPr lang="en-US" sz="1400" dirty="0"/>
          </a:p>
        </p:txBody>
      </p:sp>
      <p:sp>
        <p:nvSpPr>
          <p:cNvPr id="11" name="chart card"/>
          <p:cNvSpPr/>
          <p:nvPr/>
        </p:nvSpPr>
        <p:spPr>
          <a:xfrm>
            <a:off x="8101584" y="1188720"/>
            <a:ext cx="3611880" cy="5120640"/>
          </a:xfrm>
          <a:prstGeom prst="roundRect">
            <a:avLst>
              <a:gd name="adj" fmla="val 2025"/>
            </a:avLst>
          </a:prstGeom>
          <a:solidFill>
            <a:schemeClr val="bg2"/>
          </a:solidFill>
          <a:ln w="12700">
            <a:solidFill>
              <a:schemeClr val="bg2"/>
            </a:solidFill>
            <a:prstDash val="solid"/>
          </a:ln>
        </p:spPr>
      </p:sp>
      <p:sp>
        <p:nvSpPr>
          <p:cNvPr id="12" name="chart title"/>
          <p:cNvSpPr txBox="1"/>
          <p:nvPr/>
        </p:nvSpPr>
        <p:spPr>
          <a:xfrm>
            <a:off x="8284464" y="132588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Profit margin % by discount</a:t>
            </a:r>
            <a:endParaRPr lang="en-US" sz="1400" dirty="0"/>
          </a:p>
        </p:txBody>
      </p:sp>
      <p:graphicFrame>
        <p:nvGraphicFramePr>
          <p:cNvPr id="13" name="Chart 2"/>
          <p:cNvGraphicFramePr/>
          <p:nvPr/>
        </p:nvGraphicFramePr>
        <p:xfrm>
          <a:off x="8193024" y="1691640"/>
          <a:ext cx="342900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9"/>
          <p:cNvSpPr txBox="1"/>
          <p:nvPr/>
        </p:nvSpPr>
        <p:spPr>
          <a:xfrm>
            <a:off x="8284464" y="4846320"/>
            <a:ext cx="3246120" cy="1280160"/>
          </a:xfrm>
          <a:prstGeom prst="rect">
            <a:avLst/>
          </a:prstGeom>
          <a:noFill/>
          <a:ln/>
        </p:spPr>
        <p:txBody>
          <a:bodyPr wrap="square" lIns="0" tIns="0" rIns="0" bIns="0" rtlCol="0" anchor="t"/>
          <a:lstStyle/>
          <a:p>
            <a:pPr marL="0" indent="0">
              <a:buNone/>
            </a:pPr>
            <a:r>
              <a:rPr lang="en-US" sz="1400" dirty="0">
                <a:solidFill>
                  <a:schemeClr val="tx1"/>
                </a:solidFill>
              </a:rPr>
              <a:t>Discount above 20% makes a loss (-27.3%).</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75% of customers buy again, and some products lose money</a:t>
            </a:r>
            <a:endParaRPr lang="en-US" sz="3200" dirty="0"/>
          </a:p>
        </p:txBody>
      </p:sp>
      <p:sp>
        <p:nvSpPr>
          <p:cNvPr id="3" name="stat card"/>
          <p:cNvSpPr/>
          <p:nvPr/>
        </p:nvSpPr>
        <p:spPr>
          <a:xfrm>
            <a:off x="457200" y="1280160"/>
            <a:ext cx="3291840" cy="1051560"/>
          </a:xfrm>
          <a:prstGeom prst="roundRect">
            <a:avLst>
              <a:gd name="adj" fmla="val 6957"/>
            </a:avLst>
          </a:prstGeom>
          <a:solidFill>
            <a:schemeClr val="bg2"/>
          </a:solidFill>
          <a:ln w="12700">
            <a:solidFill>
              <a:schemeClr val="bg2"/>
            </a:solidFill>
            <a:prstDash val="solid"/>
          </a:ln>
        </p:spPr>
      </p:sp>
      <p:sp>
        <p:nvSpPr>
          <p:cNvPr id="4" name="Text 2"/>
          <p:cNvSpPr txBox="1"/>
          <p:nvPr/>
        </p:nvSpPr>
        <p:spPr>
          <a:xfrm>
            <a:off x="594360" y="1371600"/>
            <a:ext cx="3017520" cy="548640"/>
          </a:xfrm>
          <a:prstGeom prst="rect">
            <a:avLst/>
          </a:prstGeom>
          <a:noFill/>
          <a:ln/>
        </p:spPr>
        <p:txBody>
          <a:bodyPr wrap="square" lIns="0" tIns="0" rIns="0" bIns="0" rtlCol="0" anchor="ctr"/>
          <a:lstStyle/>
          <a:p>
            <a:pPr marL="0" indent="0">
              <a:buNone/>
            </a:pPr>
            <a:r>
              <a:rPr lang="en-US" sz="2800" b="1" dirty="0">
                <a:solidFill>
                  <a:srgbClr val="1C7293"/>
                </a:solidFill>
                <a:latin typeface="Cambria" pitchFamily="34" charset="0"/>
                <a:ea typeface="Cambria" pitchFamily="34" charset="-122"/>
                <a:cs typeface="Cambria" pitchFamily="34" charset="-120"/>
              </a:rPr>
              <a:t>75%</a:t>
            </a:r>
            <a:endParaRPr lang="en-US" sz="2800" dirty="0"/>
          </a:p>
        </p:txBody>
      </p:sp>
      <p:sp>
        <p:nvSpPr>
          <p:cNvPr id="5" name="Text 3"/>
          <p:cNvSpPr txBox="1"/>
          <p:nvPr/>
        </p:nvSpPr>
        <p:spPr>
          <a:xfrm>
            <a:off x="594360" y="1938528"/>
            <a:ext cx="3017520" cy="292608"/>
          </a:xfrm>
          <a:prstGeom prst="rect">
            <a:avLst/>
          </a:prstGeom>
          <a:noFill/>
          <a:ln/>
        </p:spPr>
        <p:txBody>
          <a:bodyPr wrap="square" lIns="0" tIns="0" rIns="0" bIns="0" rtlCol="0" anchor="ctr"/>
          <a:lstStyle/>
          <a:p>
            <a:pPr marL="0" indent="0">
              <a:buNone/>
            </a:pPr>
            <a:r>
              <a:rPr lang="en-US" sz="1200" dirty="0">
                <a:solidFill>
                  <a:srgbClr val="5B6B7B"/>
                </a:solidFill>
              </a:rPr>
              <a:t>customers buy more than once</a:t>
            </a:r>
            <a:endParaRPr lang="en-US" sz="1200" dirty="0"/>
          </a:p>
        </p:txBody>
      </p:sp>
      <p:sp>
        <p:nvSpPr>
          <p:cNvPr id="6" name="stat card"/>
          <p:cNvSpPr/>
          <p:nvPr/>
        </p:nvSpPr>
        <p:spPr>
          <a:xfrm>
            <a:off x="457200" y="2514600"/>
            <a:ext cx="3291840" cy="1051560"/>
          </a:xfrm>
          <a:prstGeom prst="roundRect">
            <a:avLst>
              <a:gd name="adj" fmla="val 6957"/>
            </a:avLst>
          </a:prstGeom>
          <a:solidFill>
            <a:schemeClr val="bg2"/>
          </a:solidFill>
          <a:ln w="12700">
            <a:solidFill>
              <a:schemeClr val="bg2"/>
            </a:solidFill>
            <a:prstDash val="solid"/>
          </a:ln>
        </p:spPr>
      </p:sp>
      <p:sp>
        <p:nvSpPr>
          <p:cNvPr id="7" name="Text 5"/>
          <p:cNvSpPr txBox="1"/>
          <p:nvPr/>
        </p:nvSpPr>
        <p:spPr>
          <a:xfrm>
            <a:off x="594360" y="2606040"/>
            <a:ext cx="3017520" cy="548640"/>
          </a:xfrm>
          <a:prstGeom prst="rect">
            <a:avLst/>
          </a:prstGeom>
          <a:noFill/>
          <a:ln/>
        </p:spPr>
        <p:txBody>
          <a:bodyPr wrap="square" lIns="0" tIns="0" rIns="0" bIns="0" rtlCol="0" anchor="ctr"/>
          <a:lstStyle/>
          <a:p>
            <a:pPr marL="0" indent="0">
              <a:buNone/>
            </a:pPr>
            <a:r>
              <a:rPr lang="en-US" sz="2800" b="1" dirty="0">
                <a:solidFill>
                  <a:srgbClr val="2E9E6B"/>
                </a:solidFill>
                <a:latin typeface="Cambria" pitchFamily="34" charset="0"/>
                <a:ea typeface="Cambria" pitchFamily="34" charset="-122"/>
                <a:cs typeface="Cambria" pitchFamily="34" charset="-120"/>
              </a:rPr>
              <a:t>95%</a:t>
            </a:r>
            <a:endParaRPr lang="en-US" sz="2800" dirty="0"/>
          </a:p>
        </p:txBody>
      </p:sp>
      <p:sp>
        <p:nvSpPr>
          <p:cNvPr id="8" name="Text 6"/>
          <p:cNvSpPr txBox="1"/>
          <p:nvPr/>
        </p:nvSpPr>
        <p:spPr>
          <a:xfrm>
            <a:off x="594360" y="3172968"/>
            <a:ext cx="3017520" cy="292608"/>
          </a:xfrm>
          <a:prstGeom prst="rect">
            <a:avLst/>
          </a:prstGeom>
          <a:noFill/>
          <a:ln/>
        </p:spPr>
        <p:txBody>
          <a:bodyPr wrap="square" lIns="0" tIns="0" rIns="0" bIns="0" rtlCol="0" anchor="ctr"/>
          <a:lstStyle/>
          <a:p>
            <a:pPr marL="0" indent="0">
              <a:buNone/>
            </a:pPr>
            <a:r>
              <a:rPr lang="en-US" sz="1200" dirty="0">
                <a:solidFill>
                  <a:srgbClr val="5B6B7B"/>
                </a:solidFill>
              </a:rPr>
              <a:t>of sales come from repeat customers</a:t>
            </a:r>
            <a:endParaRPr lang="en-US" sz="1200" dirty="0"/>
          </a:p>
        </p:txBody>
      </p:sp>
      <p:sp>
        <p:nvSpPr>
          <p:cNvPr id="9" name="stat card"/>
          <p:cNvSpPr/>
          <p:nvPr/>
        </p:nvSpPr>
        <p:spPr>
          <a:xfrm>
            <a:off x="457200" y="3749040"/>
            <a:ext cx="3291840" cy="1051560"/>
          </a:xfrm>
          <a:prstGeom prst="roundRect">
            <a:avLst>
              <a:gd name="adj" fmla="val 6957"/>
            </a:avLst>
          </a:prstGeom>
          <a:solidFill>
            <a:schemeClr val="bg2"/>
          </a:solidFill>
          <a:ln w="12700">
            <a:solidFill>
              <a:schemeClr val="bg2"/>
            </a:solidFill>
            <a:prstDash val="solid"/>
          </a:ln>
        </p:spPr>
      </p:sp>
      <p:sp>
        <p:nvSpPr>
          <p:cNvPr id="10" name="Text 8"/>
          <p:cNvSpPr txBox="1"/>
          <p:nvPr/>
        </p:nvSpPr>
        <p:spPr>
          <a:xfrm>
            <a:off x="594360" y="3840480"/>
            <a:ext cx="3017520" cy="548640"/>
          </a:xfrm>
          <a:prstGeom prst="rect">
            <a:avLst/>
          </a:prstGeom>
          <a:noFill/>
          <a:ln/>
        </p:spPr>
        <p:txBody>
          <a:bodyPr wrap="square" lIns="0" tIns="0" rIns="0" bIns="0" rtlCol="0" anchor="ctr"/>
          <a:lstStyle/>
          <a:p>
            <a:pPr marL="0" indent="0">
              <a:buNone/>
            </a:pPr>
            <a:r>
              <a:rPr lang="en-US" sz="2800" b="1" dirty="0">
                <a:solidFill>
                  <a:srgbClr val="D64545"/>
                </a:solidFill>
                <a:latin typeface="Cambria" pitchFamily="34" charset="0"/>
                <a:ea typeface="Cambria" pitchFamily="34" charset="-122"/>
                <a:cs typeface="Cambria" pitchFamily="34" charset="-120"/>
              </a:rPr>
              <a:t>32 of 136</a:t>
            </a:r>
            <a:endParaRPr lang="en-US" sz="2800" dirty="0"/>
          </a:p>
        </p:txBody>
      </p:sp>
      <p:sp>
        <p:nvSpPr>
          <p:cNvPr id="11" name="Text 9"/>
          <p:cNvSpPr txBox="1"/>
          <p:nvPr/>
        </p:nvSpPr>
        <p:spPr>
          <a:xfrm>
            <a:off x="594360" y="4407408"/>
            <a:ext cx="3017520" cy="292608"/>
          </a:xfrm>
          <a:prstGeom prst="rect">
            <a:avLst/>
          </a:prstGeom>
          <a:noFill/>
          <a:ln/>
        </p:spPr>
        <p:txBody>
          <a:bodyPr wrap="square" lIns="0" tIns="0" rIns="0" bIns="0" rtlCol="0" anchor="ctr"/>
          <a:lstStyle/>
          <a:p>
            <a:pPr marL="0" indent="0">
              <a:buNone/>
            </a:pPr>
            <a:r>
              <a:rPr lang="en-US" sz="1200" dirty="0">
                <a:solidFill>
                  <a:srgbClr val="5B6B7B"/>
                </a:solidFill>
              </a:rPr>
              <a:t>products make a loss</a:t>
            </a:r>
            <a:endParaRPr lang="en-US" sz="1200" dirty="0"/>
          </a:p>
        </p:txBody>
      </p:sp>
      <p:sp>
        <p:nvSpPr>
          <p:cNvPr id="12" name="loss groups"/>
          <p:cNvSpPr/>
          <p:nvPr/>
        </p:nvSpPr>
        <p:spPr>
          <a:xfrm>
            <a:off x="457200" y="4983480"/>
            <a:ext cx="3291840" cy="1280160"/>
          </a:xfrm>
          <a:prstGeom prst="roundRect">
            <a:avLst>
              <a:gd name="adj" fmla="val 5714"/>
            </a:avLst>
          </a:prstGeom>
          <a:solidFill>
            <a:schemeClr val="bg2"/>
          </a:solidFill>
          <a:ln w="12700">
            <a:solidFill>
              <a:schemeClr val="bg2"/>
            </a:solidFill>
            <a:prstDash val="solid"/>
          </a:ln>
        </p:spPr>
      </p:sp>
      <p:sp>
        <p:nvSpPr>
          <p:cNvPr id="13" name="Text 11"/>
          <p:cNvSpPr txBox="1"/>
          <p:nvPr/>
        </p:nvSpPr>
        <p:spPr>
          <a:xfrm>
            <a:off x="594360" y="5029200"/>
            <a:ext cx="3017520" cy="1188720"/>
          </a:xfrm>
          <a:prstGeom prst="rect">
            <a:avLst/>
          </a:prstGeom>
          <a:noFill/>
          <a:ln/>
        </p:spPr>
        <p:txBody>
          <a:bodyPr wrap="square" lIns="0" tIns="0" rIns="0" bIns="0" rtlCol="0" anchor="ctr"/>
          <a:lstStyle/>
          <a:p>
            <a:pPr marL="0" indent="0">
              <a:buNone/>
            </a:pPr>
            <a:r>
              <a:rPr lang="en-US" sz="1400" b="1" dirty="0">
                <a:solidFill>
                  <a:schemeClr val="tx1"/>
                </a:solidFill>
              </a:rPr>
              <a:t>Loss-making groups</a:t>
            </a:r>
            <a:endParaRPr lang="en-US" sz="1400" dirty="0"/>
          </a:p>
          <a:p>
            <a:pPr marL="0" indent="0">
              <a:buNone/>
            </a:pPr>
            <a:r>
              <a:rPr lang="en-US" sz="1400" dirty="0">
                <a:solidFill>
                  <a:schemeClr val="tx1"/>
                </a:solidFill>
              </a:rPr>
              <a:t>Bookcases, Machines, Supplies, Tables</a:t>
            </a:r>
            <a:endParaRPr lang="en-US" sz="1400" dirty="0"/>
          </a:p>
        </p:txBody>
      </p:sp>
      <p:sp>
        <p:nvSpPr>
          <p:cNvPr id="14" name="chart title"/>
          <p:cNvSpPr txBox="1"/>
          <p:nvPr/>
        </p:nvSpPr>
        <p:spPr>
          <a:xfrm>
            <a:off x="4114800" y="1234440"/>
            <a:ext cx="3657600" cy="274320"/>
          </a:xfrm>
          <a:prstGeom prst="rect">
            <a:avLst/>
          </a:prstGeom>
          <a:noFill/>
          <a:ln/>
        </p:spPr>
        <p:txBody>
          <a:bodyPr wrap="square" lIns="0" tIns="0" rIns="0" bIns="0" rtlCol="0" anchor="ctr"/>
          <a:lstStyle/>
          <a:p>
            <a:pPr marL="0" indent="0">
              <a:buNone/>
            </a:pPr>
            <a:r>
              <a:rPr lang="en-US" sz="1400" b="1" dirty="0">
                <a:solidFill>
                  <a:schemeClr val="tx1"/>
                </a:solidFill>
              </a:rPr>
              <a:t>Sales share by customer group (%)</a:t>
            </a:r>
            <a:endParaRPr lang="en-US" sz="1400" dirty="0"/>
          </a:p>
        </p:txBody>
      </p:sp>
      <p:graphicFrame>
        <p:nvGraphicFramePr>
          <p:cNvPr id="15" name="Chart 0"/>
          <p:cNvGraphicFramePr/>
          <p:nvPr/>
        </p:nvGraphicFramePr>
        <p:xfrm>
          <a:off x="4023360" y="1554480"/>
          <a:ext cx="35661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chart title"/>
          <p:cNvSpPr txBox="1"/>
          <p:nvPr/>
        </p:nvSpPr>
        <p:spPr>
          <a:xfrm>
            <a:off x="7955280" y="1234440"/>
            <a:ext cx="3657600" cy="274320"/>
          </a:xfrm>
          <a:prstGeom prst="rect">
            <a:avLst/>
          </a:prstGeom>
          <a:noFill/>
          <a:ln/>
        </p:spPr>
        <p:txBody>
          <a:bodyPr wrap="square" lIns="0" tIns="0" rIns="0" bIns="0" rtlCol="0" anchor="ctr"/>
          <a:lstStyle/>
          <a:p>
            <a:pPr marL="0" indent="0">
              <a:buNone/>
            </a:pPr>
            <a:r>
              <a:rPr lang="en-US" sz="1400" b="1" dirty="0">
                <a:solidFill>
                  <a:schemeClr val="tx1"/>
                </a:solidFill>
              </a:rPr>
              <a:t>Top 5 customers (₹ lakh)</a:t>
            </a:r>
            <a:endParaRPr lang="en-US" sz="1400" dirty="0"/>
          </a:p>
        </p:txBody>
      </p:sp>
      <p:graphicFrame>
        <p:nvGraphicFramePr>
          <p:cNvPr id="17" name="Chart 1"/>
          <p:cNvGraphicFramePr/>
          <p:nvPr/>
        </p:nvGraphicFramePr>
        <p:xfrm>
          <a:off x="7863840" y="1554480"/>
          <a:ext cx="3931920"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Power BI model: one Fact table and three small tables</a:t>
            </a:r>
            <a:endParaRPr lang="en-US" sz="3200" dirty="0"/>
          </a:p>
        </p:txBody>
      </p:sp>
      <p:sp>
        <p:nvSpPr>
          <p:cNvPr id="3" name="Dim_Customer box"/>
          <p:cNvSpPr/>
          <p:nvPr/>
        </p:nvSpPr>
        <p:spPr>
          <a:xfrm>
            <a:off x="457200" y="1234440"/>
            <a:ext cx="3291840" cy="2286000"/>
          </a:xfrm>
          <a:prstGeom prst="roundRect">
            <a:avLst>
              <a:gd name="adj" fmla="val 2400"/>
            </a:avLst>
          </a:prstGeom>
          <a:solidFill>
            <a:srgbClr val="FFFFFF"/>
          </a:solidFill>
          <a:ln w="25400">
            <a:solidFill>
              <a:srgbClr val="2E7D32"/>
            </a:solidFill>
            <a:prstDash val="solid"/>
          </a:ln>
        </p:spPr>
      </p:sp>
      <p:sp>
        <p:nvSpPr>
          <p:cNvPr id="4" name="Dim_Customer header"/>
          <p:cNvSpPr/>
          <p:nvPr/>
        </p:nvSpPr>
        <p:spPr>
          <a:xfrm>
            <a:off x="457200" y="1234440"/>
            <a:ext cx="3291840" cy="457200"/>
          </a:xfrm>
          <a:prstGeom prst="roundRect">
            <a:avLst>
              <a:gd name="adj" fmla="val 12000"/>
            </a:avLst>
          </a:prstGeom>
          <a:solidFill>
            <a:srgbClr val="2E7D32"/>
          </a:solidFill>
          <a:ln w="12700">
            <a:solidFill>
              <a:srgbClr val="2E7D32"/>
            </a:solidFill>
            <a:prstDash val="solid"/>
          </a:ln>
        </p:spPr>
      </p:sp>
      <p:sp>
        <p:nvSpPr>
          <p:cNvPr id="5" name="Text 3"/>
          <p:cNvSpPr txBox="1"/>
          <p:nvPr/>
        </p:nvSpPr>
        <p:spPr>
          <a:xfrm>
            <a:off x="457200" y="1234440"/>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rPr>
              <a:t>Dim_Customer</a:t>
            </a:r>
            <a:endParaRPr lang="en-US" sz="1600" dirty="0"/>
          </a:p>
        </p:txBody>
      </p:sp>
      <p:sp>
        <p:nvSpPr>
          <p:cNvPr id="6" name="Text 4"/>
          <p:cNvSpPr txBox="1"/>
          <p:nvPr/>
        </p:nvSpPr>
        <p:spPr>
          <a:xfrm>
            <a:off x="640080" y="1783080"/>
            <a:ext cx="3017520" cy="164592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Customer_ID (PK)</a:t>
            </a:r>
            <a:endParaRPr lang="en-US" sz="1400" dirty="0"/>
          </a:p>
          <a:p>
            <a:pPr marL="0" indent="0">
              <a:spcAft>
                <a:spcPts val="300"/>
              </a:spcAft>
              <a:buNone/>
            </a:pPr>
            <a:r>
              <a:rPr lang="en-US" sz="1400" dirty="0">
                <a:solidFill>
                  <a:schemeClr val="tx1"/>
                </a:solidFill>
              </a:rPr>
              <a:t>Customer_Name</a:t>
            </a:r>
            <a:endParaRPr lang="en-US" sz="1400" dirty="0"/>
          </a:p>
          <a:p>
            <a:pPr marL="0" indent="0">
              <a:spcAft>
                <a:spcPts val="300"/>
              </a:spcAft>
              <a:buNone/>
            </a:pPr>
            <a:r>
              <a:rPr lang="en-US" sz="1400" dirty="0">
                <a:solidFill>
                  <a:schemeClr val="tx1"/>
                </a:solidFill>
              </a:rPr>
              <a:t>Customer_Segment</a:t>
            </a:r>
            <a:endParaRPr lang="en-US" sz="1400" dirty="0"/>
          </a:p>
          <a:p>
            <a:pPr marL="0" indent="0">
              <a:spcAft>
                <a:spcPts val="300"/>
              </a:spcAft>
              <a:buNone/>
            </a:pPr>
            <a:r>
              <a:rPr lang="en-US" sz="1400" dirty="0">
                <a:solidFill>
                  <a:schemeClr val="tx1"/>
                </a:solidFill>
              </a:rPr>
              <a:t>Region, State, City</a:t>
            </a:r>
            <a:endParaRPr lang="en-US" sz="1400" dirty="0"/>
          </a:p>
        </p:txBody>
      </p:sp>
      <p:sp>
        <p:nvSpPr>
          <p:cNvPr id="7" name="Dim_Product box"/>
          <p:cNvSpPr/>
          <p:nvPr/>
        </p:nvSpPr>
        <p:spPr>
          <a:xfrm>
            <a:off x="457200" y="3840480"/>
            <a:ext cx="3291840" cy="2103120"/>
          </a:xfrm>
          <a:prstGeom prst="roundRect">
            <a:avLst>
              <a:gd name="adj" fmla="val 2609"/>
            </a:avLst>
          </a:prstGeom>
          <a:solidFill>
            <a:srgbClr val="FFFFFF"/>
          </a:solidFill>
          <a:ln w="25400">
            <a:solidFill>
              <a:srgbClr val="EF6C00"/>
            </a:solidFill>
            <a:prstDash val="solid"/>
          </a:ln>
        </p:spPr>
      </p:sp>
      <p:sp>
        <p:nvSpPr>
          <p:cNvPr id="8" name="Dim_Product header"/>
          <p:cNvSpPr/>
          <p:nvPr/>
        </p:nvSpPr>
        <p:spPr>
          <a:xfrm>
            <a:off x="457200" y="3840480"/>
            <a:ext cx="3291840" cy="457200"/>
          </a:xfrm>
          <a:prstGeom prst="roundRect">
            <a:avLst>
              <a:gd name="adj" fmla="val 12000"/>
            </a:avLst>
          </a:prstGeom>
          <a:solidFill>
            <a:srgbClr val="EF6C00"/>
          </a:solidFill>
          <a:ln w="12700">
            <a:solidFill>
              <a:srgbClr val="EF6C00"/>
            </a:solidFill>
            <a:prstDash val="solid"/>
          </a:ln>
        </p:spPr>
      </p:sp>
      <p:sp>
        <p:nvSpPr>
          <p:cNvPr id="9" name="Text 7"/>
          <p:cNvSpPr txBox="1"/>
          <p:nvPr/>
        </p:nvSpPr>
        <p:spPr>
          <a:xfrm>
            <a:off x="457200" y="3840480"/>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rPr>
              <a:t>Dim_Product</a:t>
            </a:r>
            <a:endParaRPr lang="en-US" sz="1600" dirty="0"/>
          </a:p>
        </p:txBody>
      </p:sp>
      <p:sp>
        <p:nvSpPr>
          <p:cNvPr id="10" name="Text 8"/>
          <p:cNvSpPr txBox="1"/>
          <p:nvPr/>
        </p:nvSpPr>
        <p:spPr>
          <a:xfrm>
            <a:off x="640080" y="4389120"/>
            <a:ext cx="3017520" cy="146304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Product_ID (PK)</a:t>
            </a:r>
            <a:endParaRPr lang="en-US" sz="1400" dirty="0"/>
          </a:p>
          <a:p>
            <a:pPr marL="0" indent="0">
              <a:spcAft>
                <a:spcPts val="300"/>
              </a:spcAft>
              <a:buNone/>
            </a:pPr>
            <a:r>
              <a:rPr lang="en-US" sz="1400" dirty="0">
                <a:solidFill>
                  <a:schemeClr val="tx1"/>
                </a:solidFill>
              </a:rPr>
              <a:t>Product_Name</a:t>
            </a:r>
            <a:endParaRPr lang="en-US" sz="1400" dirty="0"/>
          </a:p>
          <a:p>
            <a:pPr marL="0" indent="0">
              <a:spcAft>
                <a:spcPts val="300"/>
              </a:spcAft>
              <a:buNone/>
            </a:pPr>
            <a:r>
              <a:rPr lang="en-US" sz="1400" dirty="0">
                <a:solidFill>
                  <a:schemeClr val="tx1"/>
                </a:solidFill>
              </a:rPr>
              <a:t>Category</a:t>
            </a:r>
            <a:endParaRPr lang="en-US" sz="1400" dirty="0"/>
          </a:p>
          <a:p>
            <a:pPr marL="0" indent="0">
              <a:spcAft>
                <a:spcPts val="300"/>
              </a:spcAft>
              <a:buNone/>
            </a:pPr>
            <a:r>
              <a:rPr lang="en-US" sz="1400" dirty="0">
                <a:solidFill>
                  <a:schemeClr val="tx1"/>
                </a:solidFill>
              </a:rPr>
              <a:t>Sub_Category</a:t>
            </a:r>
            <a:endParaRPr lang="en-US" sz="1400" dirty="0"/>
          </a:p>
        </p:txBody>
      </p:sp>
      <p:sp>
        <p:nvSpPr>
          <p:cNvPr id="11" name="Fact_Sales box"/>
          <p:cNvSpPr/>
          <p:nvPr/>
        </p:nvSpPr>
        <p:spPr>
          <a:xfrm>
            <a:off x="4480560" y="1234440"/>
            <a:ext cx="3291840" cy="4297680"/>
          </a:xfrm>
          <a:prstGeom prst="roundRect">
            <a:avLst>
              <a:gd name="adj" fmla="val 1667"/>
            </a:avLst>
          </a:prstGeom>
          <a:solidFill>
            <a:srgbClr val="FFFFFF"/>
          </a:solidFill>
          <a:ln w="25400">
            <a:solidFill>
              <a:srgbClr val="1565C0"/>
            </a:solidFill>
            <a:prstDash val="solid"/>
          </a:ln>
        </p:spPr>
      </p:sp>
      <p:sp>
        <p:nvSpPr>
          <p:cNvPr id="12" name="Fact_Sales header"/>
          <p:cNvSpPr/>
          <p:nvPr/>
        </p:nvSpPr>
        <p:spPr>
          <a:xfrm>
            <a:off x="4480560" y="1234440"/>
            <a:ext cx="3291840" cy="457200"/>
          </a:xfrm>
          <a:prstGeom prst="roundRect">
            <a:avLst>
              <a:gd name="adj" fmla="val 12000"/>
            </a:avLst>
          </a:prstGeom>
          <a:solidFill>
            <a:srgbClr val="1565C0"/>
          </a:solidFill>
          <a:ln w="12700">
            <a:solidFill>
              <a:srgbClr val="1565C0"/>
            </a:solidFill>
            <a:prstDash val="solid"/>
          </a:ln>
        </p:spPr>
      </p:sp>
      <p:sp>
        <p:nvSpPr>
          <p:cNvPr id="13" name="Text 11"/>
          <p:cNvSpPr txBox="1"/>
          <p:nvPr/>
        </p:nvSpPr>
        <p:spPr>
          <a:xfrm>
            <a:off x="4480560" y="1234440"/>
            <a:ext cx="3291840" cy="457200"/>
          </a:xfrm>
          <a:prstGeom prst="rect">
            <a:avLst/>
          </a:prstGeom>
          <a:noFill/>
          <a:ln/>
        </p:spPr>
        <p:txBody>
          <a:bodyPr wrap="square" lIns="0" tIns="0" rIns="0" bIns="0" rtlCol="0" anchor="ctr"/>
          <a:lstStyle/>
          <a:p>
            <a:pPr marL="0" indent="0" algn="ctr">
              <a:buNone/>
            </a:pPr>
            <a:r>
              <a:rPr lang="en-US" sz="1600" b="1" dirty="0">
                <a:solidFill>
                  <a:srgbClr val="FFFFFF"/>
                </a:solidFill>
              </a:rPr>
              <a:t>Fact_Sales</a:t>
            </a:r>
            <a:endParaRPr lang="en-US" sz="1600" dirty="0"/>
          </a:p>
        </p:txBody>
      </p:sp>
      <p:sp>
        <p:nvSpPr>
          <p:cNvPr id="14" name="Text 12"/>
          <p:cNvSpPr txBox="1"/>
          <p:nvPr/>
        </p:nvSpPr>
        <p:spPr>
          <a:xfrm>
            <a:off x="4663440" y="1783080"/>
            <a:ext cx="3017520" cy="36576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Order_ID</a:t>
            </a:r>
            <a:endParaRPr lang="en-US" sz="1400" dirty="0"/>
          </a:p>
          <a:p>
            <a:pPr marL="0" indent="0">
              <a:spcAft>
                <a:spcPts val="300"/>
              </a:spcAft>
              <a:buNone/>
            </a:pPr>
            <a:r>
              <a:rPr lang="en-US" sz="1400" dirty="0">
                <a:solidFill>
                  <a:schemeClr val="tx1"/>
                </a:solidFill>
              </a:rPr>
              <a:t>Customer_ID (FK)</a:t>
            </a:r>
            <a:endParaRPr lang="en-US" sz="1400" dirty="0"/>
          </a:p>
          <a:p>
            <a:pPr marL="0" indent="0">
              <a:spcAft>
                <a:spcPts val="300"/>
              </a:spcAft>
              <a:buNone/>
            </a:pPr>
            <a:r>
              <a:rPr lang="en-US" sz="1400" dirty="0">
                <a:solidFill>
                  <a:schemeClr val="tx1"/>
                </a:solidFill>
              </a:rPr>
              <a:t>Product_ID (FK)</a:t>
            </a:r>
            <a:endParaRPr lang="en-US" sz="1400" dirty="0"/>
          </a:p>
          <a:p>
            <a:pPr marL="0" indent="0">
              <a:spcAft>
                <a:spcPts val="300"/>
              </a:spcAft>
              <a:buNone/>
            </a:pPr>
            <a:r>
              <a:rPr lang="en-US" sz="1400" dirty="0">
                <a:solidFill>
                  <a:schemeClr val="tx1"/>
                </a:solidFill>
              </a:rPr>
              <a:t>Date (FK)</a:t>
            </a:r>
            <a:endParaRPr lang="en-US" sz="1400" dirty="0"/>
          </a:p>
          <a:p>
            <a:pPr marL="0" indent="0">
              <a:spcAft>
                <a:spcPts val="300"/>
              </a:spcAft>
              <a:buNone/>
            </a:pPr>
            <a:r>
              <a:rPr lang="en-US" sz="1400" dirty="0">
                <a:solidFill>
                  <a:schemeClr val="tx1"/>
                </a:solidFill>
              </a:rPr>
              <a:t>Quantity</a:t>
            </a:r>
            <a:endParaRPr lang="en-US" sz="1400" dirty="0"/>
          </a:p>
          <a:p>
            <a:pPr marL="0" indent="0">
              <a:spcAft>
                <a:spcPts val="300"/>
              </a:spcAft>
              <a:buNone/>
            </a:pPr>
            <a:r>
              <a:rPr lang="en-US" sz="1400" dirty="0">
                <a:solidFill>
                  <a:schemeClr val="tx1"/>
                </a:solidFill>
              </a:rPr>
              <a:t>Discount</a:t>
            </a:r>
            <a:endParaRPr lang="en-US" sz="1400" dirty="0"/>
          </a:p>
          <a:p>
            <a:pPr marL="0" indent="0">
              <a:spcAft>
                <a:spcPts val="300"/>
              </a:spcAft>
              <a:buNone/>
            </a:pPr>
            <a:r>
              <a:rPr lang="en-US" sz="1400" dirty="0">
                <a:solidFill>
                  <a:schemeClr val="tx1"/>
                </a:solidFill>
              </a:rPr>
              <a:t>Sales</a:t>
            </a:r>
            <a:endParaRPr lang="en-US" sz="1400" dirty="0"/>
          </a:p>
          <a:p>
            <a:pPr marL="0" indent="0">
              <a:spcAft>
                <a:spcPts val="300"/>
              </a:spcAft>
              <a:buNone/>
            </a:pPr>
            <a:r>
              <a:rPr lang="en-US" sz="1400" dirty="0">
                <a:solidFill>
                  <a:schemeClr val="tx1"/>
                </a:solidFill>
              </a:rPr>
              <a:t>Profit</a:t>
            </a:r>
            <a:endParaRPr lang="en-US" sz="1400" dirty="0"/>
          </a:p>
        </p:txBody>
      </p:sp>
      <p:sp>
        <p:nvSpPr>
          <p:cNvPr id="15" name="Dim_Date box"/>
          <p:cNvSpPr/>
          <p:nvPr/>
        </p:nvSpPr>
        <p:spPr>
          <a:xfrm>
            <a:off x="8503920" y="1234440"/>
            <a:ext cx="3200400" cy="2468880"/>
          </a:xfrm>
          <a:prstGeom prst="roundRect">
            <a:avLst>
              <a:gd name="adj" fmla="val 2222"/>
            </a:avLst>
          </a:prstGeom>
          <a:solidFill>
            <a:srgbClr val="FFFFFF"/>
          </a:solidFill>
          <a:ln w="25400">
            <a:solidFill>
              <a:srgbClr val="6A1B9A"/>
            </a:solidFill>
            <a:prstDash val="solid"/>
          </a:ln>
        </p:spPr>
      </p:sp>
      <p:sp>
        <p:nvSpPr>
          <p:cNvPr id="16" name="Dim_Date header"/>
          <p:cNvSpPr/>
          <p:nvPr/>
        </p:nvSpPr>
        <p:spPr>
          <a:xfrm>
            <a:off x="8503920" y="1234440"/>
            <a:ext cx="3200400" cy="457200"/>
          </a:xfrm>
          <a:prstGeom prst="roundRect">
            <a:avLst>
              <a:gd name="adj" fmla="val 12000"/>
            </a:avLst>
          </a:prstGeom>
          <a:solidFill>
            <a:srgbClr val="6A1B9A"/>
          </a:solidFill>
          <a:ln w="12700">
            <a:solidFill>
              <a:srgbClr val="6A1B9A"/>
            </a:solidFill>
            <a:prstDash val="solid"/>
          </a:ln>
        </p:spPr>
      </p:sp>
      <p:sp>
        <p:nvSpPr>
          <p:cNvPr id="17" name="Text 15"/>
          <p:cNvSpPr txBox="1"/>
          <p:nvPr/>
        </p:nvSpPr>
        <p:spPr>
          <a:xfrm>
            <a:off x="8503920" y="1234440"/>
            <a:ext cx="3200400" cy="457200"/>
          </a:xfrm>
          <a:prstGeom prst="rect">
            <a:avLst/>
          </a:prstGeom>
          <a:noFill/>
          <a:ln/>
        </p:spPr>
        <p:txBody>
          <a:bodyPr wrap="square" lIns="0" tIns="0" rIns="0" bIns="0" rtlCol="0" anchor="ctr"/>
          <a:lstStyle/>
          <a:p>
            <a:pPr marL="0" indent="0" algn="ctr">
              <a:buNone/>
            </a:pPr>
            <a:r>
              <a:rPr lang="en-US" sz="1600" b="1" dirty="0">
                <a:solidFill>
                  <a:srgbClr val="FFFFFF"/>
                </a:solidFill>
              </a:rPr>
              <a:t>Dim_Date</a:t>
            </a:r>
            <a:endParaRPr lang="en-US" sz="1600" dirty="0"/>
          </a:p>
        </p:txBody>
      </p:sp>
      <p:sp>
        <p:nvSpPr>
          <p:cNvPr id="18" name="Text 16"/>
          <p:cNvSpPr txBox="1"/>
          <p:nvPr/>
        </p:nvSpPr>
        <p:spPr>
          <a:xfrm>
            <a:off x="8686800" y="1783080"/>
            <a:ext cx="2926080" cy="1828800"/>
          </a:xfrm>
          <a:prstGeom prst="rect">
            <a:avLst/>
          </a:prstGeom>
          <a:noFill/>
          <a:ln/>
        </p:spPr>
        <p:txBody>
          <a:bodyPr wrap="square" lIns="0" tIns="0" rIns="0" bIns="0" rtlCol="0" anchor="t"/>
          <a:lstStyle/>
          <a:p>
            <a:pPr marL="0" indent="0">
              <a:spcAft>
                <a:spcPts val="300"/>
              </a:spcAft>
              <a:buNone/>
            </a:pPr>
            <a:r>
              <a:rPr lang="en-US" sz="1400" dirty="0">
                <a:solidFill>
                  <a:schemeClr val="tx1"/>
                </a:solidFill>
              </a:rPr>
              <a:t>Date (PK)</a:t>
            </a:r>
            <a:endParaRPr lang="en-US" sz="1400" dirty="0"/>
          </a:p>
          <a:p>
            <a:pPr marL="0" indent="0">
              <a:spcAft>
                <a:spcPts val="300"/>
              </a:spcAft>
              <a:buNone/>
            </a:pPr>
            <a:r>
              <a:rPr lang="en-US" sz="1400" dirty="0">
                <a:solidFill>
                  <a:schemeClr val="tx1"/>
                </a:solidFill>
              </a:rPr>
              <a:t>Year</a:t>
            </a:r>
            <a:endParaRPr lang="en-US" sz="1400" dirty="0"/>
          </a:p>
          <a:p>
            <a:pPr marL="0" indent="0">
              <a:spcAft>
                <a:spcPts val="300"/>
              </a:spcAft>
              <a:buNone/>
            </a:pPr>
            <a:r>
              <a:rPr lang="en-US" sz="1400" dirty="0">
                <a:solidFill>
                  <a:schemeClr val="tx1"/>
                </a:solidFill>
              </a:rPr>
              <a:t>Month</a:t>
            </a:r>
            <a:endParaRPr lang="en-US" sz="1400" dirty="0"/>
          </a:p>
          <a:p>
            <a:pPr marL="0" indent="0">
              <a:spcAft>
                <a:spcPts val="300"/>
              </a:spcAft>
              <a:buNone/>
            </a:pPr>
            <a:r>
              <a:rPr lang="en-US" sz="1400" dirty="0">
                <a:solidFill>
                  <a:schemeClr val="tx1"/>
                </a:solidFill>
              </a:rPr>
              <a:t>Quarter</a:t>
            </a:r>
            <a:endParaRPr lang="en-US" sz="1400" dirty="0"/>
          </a:p>
        </p:txBody>
      </p:sp>
      <p:sp>
        <p:nvSpPr>
          <p:cNvPr id="19" name="relationship line"/>
          <p:cNvSpPr/>
          <p:nvPr/>
        </p:nvSpPr>
        <p:spPr>
          <a:xfrm>
            <a:off x="3749040" y="2377440"/>
            <a:ext cx="731520" cy="0"/>
          </a:xfrm>
          <a:prstGeom prst="line">
            <a:avLst/>
          </a:prstGeom>
          <a:noFill/>
          <a:ln w="25400">
            <a:solidFill>
              <a:srgbClr val="5B6B7B"/>
            </a:solidFill>
            <a:prstDash val="solid"/>
            <a:tailEnd type="triangle"/>
          </a:ln>
        </p:spPr>
      </p:sp>
      <p:sp>
        <p:nvSpPr>
          <p:cNvPr id="20" name="relationship line"/>
          <p:cNvSpPr/>
          <p:nvPr/>
        </p:nvSpPr>
        <p:spPr>
          <a:xfrm flipV="1">
            <a:off x="3749040" y="4297680"/>
            <a:ext cx="731520" cy="594360"/>
          </a:xfrm>
          <a:prstGeom prst="line">
            <a:avLst/>
          </a:prstGeom>
          <a:noFill/>
          <a:ln w="25400">
            <a:solidFill>
              <a:srgbClr val="5B6B7B"/>
            </a:solidFill>
            <a:prstDash val="solid"/>
            <a:tailEnd type="triangle"/>
          </a:ln>
        </p:spPr>
      </p:sp>
      <p:sp>
        <p:nvSpPr>
          <p:cNvPr id="21" name="relationship line"/>
          <p:cNvSpPr/>
          <p:nvPr/>
        </p:nvSpPr>
        <p:spPr>
          <a:xfrm flipH="1">
            <a:off x="7772400" y="2468880"/>
            <a:ext cx="731520" cy="0"/>
          </a:xfrm>
          <a:prstGeom prst="line">
            <a:avLst/>
          </a:prstGeom>
          <a:noFill/>
          <a:ln w="25400">
            <a:solidFill>
              <a:srgbClr val="5B6B7B"/>
            </a:solidFill>
            <a:prstDash val="solid"/>
            <a:tailEnd type="triangle"/>
          </a:ln>
        </p:spPr>
      </p:sp>
      <p:sp>
        <p:nvSpPr>
          <p:cNvPr id="22" name="Text 20"/>
          <p:cNvSpPr txBox="1"/>
          <p:nvPr/>
        </p:nvSpPr>
        <p:spPr>
          <a:xfrm>
            <a:off x="3767328" y="2011680"/>
            <a:ext cx="274320" cy="274320"/>
          </a:xfrm>
          <a:prstGeom prst="rect">
            <a:avLst/>
          </a:prstGeom>
          <a:noFill/>
          <a:ln/>
        </p:spPr>
        <p:txBody>
          <a:bodyPr wrap="square" lIns="0" tIns="0" rIns="0" bIns="0" rtlCol="0" anchor="ctr"/>
          <a:lstStyle/>
          <a:p>
            <a:pPr marL="0" indent="0">
              <a:buNone/>
            </a:pPr>
            <a:r>
              <a:rPr lang="en-US" sz="1400" b="1" dirty="0">
                <a:solidFill>
                  <a:srgbClr val="1B2A3A"/>
                </a:solidFill>
              </a:rPr>
              <a:t>1</a:t>
            </a:r>
            <a:endParaRPr lang="en-US" sz="1400" dirty="0"/>
          </a:p>
        </p:txBody>
      </p:sp>
      <p:sp>
        <p:nvSpPr>
          <p:cNvPr id="23" name="Text 21"/>
          <p:cNvSpPr txBox="1"/>
          <p:nvPr/>
        </p:nvSpPr>
        <p:spPr>
          <a:xfrm>
            <a:off x="4224528" y="2011680"/>
            <a:ext cx="274320" cy="274320"/>
          </a:xfrm>
          <a:prstGeom prst="rect">
            <a:avLst/>
          </a:prstGeom>
          <a:noFill/>
          <a:ln/>
        </p:spPr>
        <p:txBody>
          <a:bodyPr wrap="square" lIns="0" tIns="0" rIns="0" bIns="0" rtlCol="0" anchor="ctr"/>
          <a:lstStyle/>
          <a:p>
            <a:pPr marL="0" indent="0">
              <a:buNone/>
            </a:pPr>
            <a:r>
              <a:rPr lang="en-US" sz="1800" b="1" dirty="0">
                <a:solidFill>
                  <a:srgbClr val="1B2A3A"/>
                </a:solidFill>
              </a:rPr>
              <a:t>*</a:t>
            </a:r>
            <a:endParaRPr lang="en-US" sz="1800" dirty="0"/>
          </a:p>
        </p:txBody>
      </p:sp>
      <p:sp>
        <p:nvSpPr>
          <p:cNvPr id="24" name="Text 22"/>
          <p:cNvSpPr txBox="1"/>
          <p:nvPr/>
        </p:nvSpPr>
        <p:spPr>
          <a:xfrm>
            <a:off x="3767328" y="4526280"/>
            <a:ext cx="274320" cy="274320"/>
          </a:xfrm>
          <a:prstGeom prst="rect">
            <a:avLst/>
          </a:prstGeom>
          <a:noFill/>
          <a:ln/>
        </p:spPr>
        <p:txBody>
          <a:bodyPr wrap="square" lIns="0" tIns="0" rIns="0" bIns="0" rtlCol="0" anchor="ctr"/>
          <a:lstStyle/>
          <a:p>
            <a:pPr marL="0" indent="0">
              <a:buNone/>
            </a:pPr>
            <a:r>
              <a:rPr lang="en-US" sz="1400" b="1" dirty="0">
                <a:solidFill>
                  <a:srgbClr val="1B2A3A"/>
                </a:solidFill>
              </a:rPr>
              <a:t>1</a:t>
            </a:r>
            <a:endParaRPr lang="en-US" sz="1400" dirty="0"/>
          </a:p>
        </p:txBody>
      </p:sp>
      <p:sp>
        <p:nvSpPr>
          <p:cNvPr id="25" name="Text 23"/>
          <p:cNvSpPr txBox="1"/>
          <p:nvPr/>
        </p:nvSpPr>
        <p:spPr>
          <a:xfrm>
            <a:off x="4224528" y="4709160"/>
            <a:ext cx="274320" cy="274320"/>
          </a:xfrm>
          <a:prstGeom prst="rect">
            <a:avLst/>
          </a:prstGeom>
          <a:noFill/>
          <a:ln/>
        </p:spPr>
        <p:txBody>
          <a:bodyPr wrap="square" lIns="0" tIns="0" rIns="0" bIns="0" rtlCol="0" anchor="ctr"/>
          <a:lstStyle/>
          <a:p>
            <a:pPr marL="0" indent="0">
              <a:buNone/>
            </a:pPr>
            <a:r>
              <a:rPr lang="en-US" sz="1800" b="1" dirty="0">
                <a:solidFill>
                  <a:srgbClr val="1B2A3A"/>
                </a:solidFill>
              </a:rPr>
              <a:t>*</a:t>
            </a:r>
            <a:endParaRPr lang="en-US" sz="1800" dirty="0"/>
          </a:p>
        </p:txBody>
      </p:sp>
      <p:sp>
        <p:nvSpPr>
          <p:cNvPr id="26" name="Text 24"/>
          <p:cNvSpPr txBox="1"/>
          <p:nvPr/>
        </p:nvSpPr>
        <p:spPr>
          <a:xfrm>
            <a:off x="8229600" y="2103120"/>
            <a:ext cx="274320" cy="274320"/>
          </a:xfrm>
          <a:prstGeom prst="rect">
            <a:avLst/>
          </a:prstGeom>
          <a:noFill/>
          <a:ln/>
        </p:spPr>
        <p:txBody>
          <a:bodyPr wrap="square" lIns="0" tIns="0" rIns="0" bIns="0" rtlCol="0" anchor="ctr"/>
          <a:lstStyle/>
          <a:p>
            <a:pPr marL="0" indent="0">
              <a:buNone/>
            </a:pPr>
            <a:r>
              <a:rPr lang="en-US" sz="1400" b="1" dirty="0">
                <a:solidFill>
                  <a:srgbClr val="1B2A3A"/>
                </a:solidFill>
              </a:rPr>
              <a:t>1</a:t>
            </a:r>
            <a:endParaRPr lang="en-US" sz="1400" dirty="0"/>
          </a:p>
        </p:txBody>
      </p:sp>
      <p:sp>
        <p:nvSpPr>
          <p:cNvPr id="27" name="Text 25"/>
          <p:cNvSpPr txBox="1"/>
          <p:nvPr/>
        </p:nvSpPr>
        <p:spPr>
          <a:xfrm>
            <a:off x="7818120" y="2103120"/>
            <a:ext cx="274320" cy="274320"/>
          </a:xfrm>
          <a:prstGeom prst="rect">
            <a:avLst/>
          </a:prstGeom>
          <a:noFill/>
          <a:ln/>
        </p:spPr>
        <p:txBody>
          <a:bodyPr wrap="square" lIns="0" tIns="0" rIns="0" bIns="0" rtlCol="0" anchor="ctr"/>
          <a:lstStyle/>
          <a:p>
            <a:pPr marL="0" indent="0">
              <a:buNone/>
            </a:pPr>
            <a:r>
              <a:rPr lang="en-US" sz="1800" b="1" dirty="0">
                <a:solidFill>
                  <a:srgbClr val="1B2A3A"/>
                </a:solidFill>
              </a:rPr>
              <a:t>*</a:t>
            </a:r>
            <a:endParaRPr lang="en-US" sz="1800" dirty="0"/>
          </a:p>
        </p:txBody>
      </p:sp>
      <p:sp>
        <p:nvSpPr>
          <p:cNvPr id="28" name="key note"/>
          <p:cNvSpPr/>
          <p:nvPr/>
        </p:nvSpPr>
        <p:spPr>
          <a:xfrm>
            <a:off x="8503920" y="3977640"/>
            <a:ext cx="3200400" cy="1965960"/>
          </a:xfrm>
          <a:prstGeom prst="roundRect">
            <a:avLst>
              <a:gd name="adj" fmla="val 3721"/>
            </a:avLst>
          </a:prstGeom>
          <a:solidFill>
            <a:schemeClr val="bg2"/>
          </a:solidFill>
          <a:ln w="12700">
            <a:solidFill>
              <a:schemeClr val="bg2"/>
            </a:solidFill>
            <a:prstDash val="solid"/>
          </a:ln>
        </p:spPr>
      </p:sp>
      <p:sp>
        <p:nvSpPr>
          <p:cNvPr id="29" name="Text 27"/>
          <p:cNvSpPr txBox="1"/>
          <p:nvPr/>
        </p:nvSpPr>
        <p:spPr>
          <a:xfrm>
            <a:off x="8641080" y="4069080"/>
            <a:ext cx="2926080" cy="1783080"/>
          </a:xfrm>
          <a:prstGeom prst="rect">
            <a:avLst/>
          </a:prstGeom>
          <a:noFill/>
          <a:ln/>
        </p:spPr>
        <p:txBody>
          <a:bodyPr wrap="square" lIns="0" tIns="0" rIns="0" bIns="0" rtlCol="0" anchor="ctr"/>
          <a:lstStyle/>
          <a:p>
            <a:pPr marL="0" indent="0">
              <a:spcAft>
                <a:spcPts val="600"/>
              </a:spcAft>
              <a:buNone/>
            </a:pPr>
            <a:r>
              <a:rPr lang="en-US" sz="1400" dirty="0">
                <a:solidFill>
                  <a:schemeClr val="tx1"/>
                </a:solidFill>
              </a:rPr>
              <a:t>PK = unique ID in a small table</a:t>
            </a:r>
            <a:endParaRPr lang="en-US" sz="1400" dirty="0"/>
          </a:p>
          <a:p>
            <a:pPr marL="0" indent="0">
              <a:spcAft>
                <a:spcPts val="600"/>
              </a:spcAft>
              <a:buNone/>
            </a:pPr>
            <a:r>
              <a:rPr lang="en-US" sz="1400" dirty="0">
                <a:solidFill>
                  <a:schemeClr val="tx1"/>
                </a:solidFill>
              </a:rPr>
              <a:t>FK = same ID in the Fact table</a:t>
            </a:r>
            <a:endParaRPr lang="en-US" sz="1400" dirty="0"/>
          </a:p>
          <a:p>
            <a:pPr marL="0" indent="0">
              <a:spcAft>
                <a:spcPts val="600"/>
              </a:spcAft>
              <a:buNone/>
            </a:pPr>
            <a:r>
              <a:rPr lang="en-US" sz="1400" dirty="0">
                <a:solidFill>
                  <a:schemeClr val="tx1"/>
                </a:solidFill>
              </a:rPr>
              <a:t>1 to * = one customer, many sales rows</a:t>
            </a:r>
            <a:endParaRPr lang="en-US" sz="1400" dirty="0"/>
          </a:p>
        </p:txBody>
      </p:sp>
      <p:sp>
        <p:nvSpPr>
          <p:cNvPr id="30" name="Text 28"/>
          <p:cNvSpPr txBox="1"/>
          <p:nvPr/>
        </p:nvSpPr>
        <p:spPr>
          <a:xfrm>
            <a:off x="457200" y="6035040"/>
            <a:ext cx="10972800" cy="320040"/>
          </a:xfrm>
          <a:prstGeom prst="rect">
            <a:avLst/>
          </a:prstGeom>
          <a:noFill/>
          <a:ln/>
        </p:spPr>
        <p:txBody>
          <a:bodyPr wrap="square" lIns="0" tIns="0" rIns="0" bIns="0" rtlCol="0" anchor="ctr"/>
          <a:lstStyle/>
          <a:p>
            <a:pPr marL="0" indent="0">
              <a:buNone/>
            </a:pPr>
            <a:r>
              <a:rPr lang="en-US" sz="1400" i="1" dirty="0">
                <a:solidFill>
                  <a:schemeClr val="accent1"/>
                </a:solidFill>
              </a:rPr>
              <a:t>4 csv files are ready in the powerbi folder; all key checks passed in the notebook.</a:t>
            </a:r>
            <a:endParaRPr lang="en-US" sz="1400" dirty="0"/>
          </a:p>
        </p:txBody>
      </p:sp>
      <p:sp>
        <p:nvSpPr>
          <p:cNvPr id="31"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Dashboard 1: Executive view for the CEO</a:t>
            </a:r>
            <a:endParaRPr lang="en-US" sz="3200" dirty="0"/>
          </a:p>
        </p:txBody>
      </p:sp>
      <p:sp>
        <p:nvSpPr>
          <p:cNvPr id="3" name="Text 1"/>
          <p:cNvSpPr txBox="1"/>
          <p:nvPr/>
        </p:nvSpPr>
        <p:spPr>
          <a:xfrm>
            <a:off x="457200" y="1097280"/>
            <a:ext cx="822960" cy="310896"/>
          </a:xfrm>
          <a:prstGeom prst="rect">
            <a:avLst/>
          </a:prstGeom>
          <a:noFill/>
          <a:ln/>
        </p:spPr>
        <p:txBody>
          <a:bodyPr wrap="square" lIns="0" tIns="0" rIns="0" bIns="0" rtlCol="0" anchor="ctr"/>
          <a:lstStyle/>
          <a:p>
            <a:pPr marL="0" indent="0">
              <a:buNone/>
            </a:pPr>
            <a:r>
              <a:rPr lang="en-US" sz="1200" b="1" dirty="0">
                <a:solidFill>
                  <a:srgbClr val="5B6B7B"/>
                </a:solidFill>
              </a:rPr>
              <a:t>Slicers:</a:t>
            </a:r>
            <a:endParaRPr lang="en-US" sz="1200" dirty="0"/>
          </a:p>
        </p:txBody>
      </p:sp>
      <p:sp>
        <p:nvSpPr>
          <p:cNvPr id="4" name="slicer chip"/>
          <p:cNvSpPr/>
          <p:nvPr/>
        </p:nvSpPr>
        <p:spPr>
          <a:xfrm>
            <a:off x="1234440" y="1097280"/>
            <a:ext cx="1463040" cy="310896"/>
          </a:xfrm>
          <a:prstGeom prst="roundRect">
            <a:avLst>
              <a:gd name="adj" fmla="val 50000"/>
            </a:avLst>
          </a:prstGeom>
          <a:solidFill>
            <a:srgbClr val="FFFFFF"/>
          </a:solidFill>
          <a:ln w="12700">
            <a:solidFill>
              <a:srgbClr val="7A8CA3"/>
            </a:solidFill>
            <a:prstDash val="solid"/>
          </a:ln>
        </p:spPr>
      </p:sp>
      <p:sp>
        <p:nvSpPr>
          <p:cNvPr id="5" name="Text 3"/>
          <p:cNvSpPr txBox="1"/>
          <p:nvPr/>
        </p:nvSpPr>
        <p:spPr>
          <a:xfrm>
            <a:off x="12344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Year  ▾</a:t>
            </a:r>
            <a:endParaRPr lang="en-US" sz="1100" dirty="0"/>
          </a:p>
        </p:txBody>
      </p:sp>
      <p:sp>
        <p:nvSpPr>
          <p:cNvPr id="6" name="slicer chip"/>
          <p:cNvSpPr/>
          <p:nvPr/>
        </p:nvSpPr>
        <p:spPr>
          <a:xfrm>
            <a:off x="2834640" y="1097280"/>
            <a:ext cx="1463040" cy="310896"/>
          </a:xfrm>
          <a:prstGeom prst="roundRect">
            <a:avLst>
              <a:gd name="adj" fmla="val 50000"/>
            </a:avLst>
          </a:prstGeom>
          <a:solidFill>
            <a:srgbClr val="FFFFFF"/>
          </a:solidFill>
          <a:ln w="12700">
            <a:solidFill>
              <a:srgbClr val="7A8CA3"/>
            </a:solidFill>
            <a:prstDash val="solid"/>
          </a:ln>
        </p:spPr>
      </p:sp>
      <p:sp>
        <p:nvSpPr>
          <p:cNvPr id="7" name="Text 5"/>
          <p:cNvSpPr txBox="1"/>
          <p:nvPr/>
        </p:nvSpPr>
        <p:spPr>
          <a:xfrm>
            <a:off x="28346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Month  ▾</a:t>
            </a:r>
            <a:endParaRPr lang="en-US" sz="1100" dirty="0"/>
          </a:p>
        </p:txBody>
      </p:sp>
      <p:sp>
        <p:nvSpPr>
          <p:cNvPr id="8" name="slicer chip"/>
          <p:cNvSpPr/>
          <p:nvPr/>
        </p:nvSpPr>
        <p:spPr>
          <a:xfrm>
            <a:off x="4434840" y="1097280"/>
            <a:ext cx="1463040" cy="310896"/>
          </a:xfrm>
          <a:prstGeom prst="roundRect">
            <a:avLst>
              <a:gd name="adj" fmla="val 50000"/>
            </a:avLst>
          </a:prstGeom>
          <a:solidFill>
            <a:srgbClr val="FFFFFF"/>
          </a:solidFill>
          <a:ln w="12700">
            <a:solidFill>
              <a:srgbClr val="7A8CA3"/>
            </a:solidFill>
            <a:prstDash val="solid"/>
          </a:ln>
        </p:spPr>
      </p:sp>
      <p:sp>
        <p:nvSpPr>
          <p:cNvPr id="9" name="Text 7"/>
          <p:cNvSpPr txBox="1"/>
          <p:nvPr/>
        </p:nvSpPr>
        <p:spPr>
          <a:xfrm>
            <a:off x="44348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Region  ▾</a:t>
            </a:r>
            <a:endParaRPr lang="en-US" sz="1100" dirty="0"/>
          </a:p>
        </p:txBody>
      </p:sp>
      <p:sp>
        <p:nvSpPr>
          <p:cNvPr id="10" name="slicer chip"/>
          <p:cNvSpPr/>
          <p:nvPr/>
        </p:nvSpPr>
        <p:spPr>
          <a:xfrm>
            <a:off x="6035040" y="1097280"/>
            <a:ext cx="1463040" cy="310896"/>
          </a:xfrm>
          <a:prstGeom prst="roundRect">
            <a:avLst>
              <a:gd name="adj" fmla="val 50000"/>
            </a:avLst>
          </a:prstGeom>
          <a:solidFill>
            <a:srgbClr val="FFFFFF"/>
          </a:solidFill>
          <a:ln w="12700">
            <a:solidFill>
              <a:srgbClr val="7A8CA3"/>
            </a:solidFill>
            <a:prstDash val="solid"/>
          </a:ln>
        </p:spPr>
      </p:sp>
      <p:sp>
        <p:nvSpPr>
          <p:cNvPr id="11" name="Text 9"/>
          <p:cNvSpPr txBox="1"/>
          <p:nvPr/>
        </p:nvSpPr>
        <p:spPr>
          <a:xfrm>
            <a:off x="60350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Category  ▾</a:t>
            </a:r>
            <a:endParaRPr lang="en-US" sz="1100" dirty="0"/>
          </a:p>
        </p:txBody>
      </p:sp>
      <p:sp>
        <p:nvSpPr>
          <p:cNvPr id="12" name="Text 10"/>
          <p:cNvSpPr txBox="1"/>
          <p:nvPr/>
        </p:nvSpPr>
        <p:spPr>
          <a:xfrm>
            <a:off x="7841488" y="1007364"/>
            <a:ext cx="3840480" cy="310896"/>
          </a:xfrm>
          <a:prstGeom prst="rect">
            <a:avLst/>
          </a:prstGeom>
          <a:noFill/>
          <a:ln/>
        </p:spPr>
        <p:txBody>
          <a:bodyPr wrap="square" lIns="0" tIns="0" rIns="0" bIns="0" rtlCol="0" anchor="ctr"/>
          <a:lstStyle/>
          <a:p>
            <a:pPr marL="0" indent="0" algn="r">
              <a:buNone/>
            </a:pPr>
            <a:endParaRPr lang="en-US" sz="1100" dirty="0"/>
          </a:p>
        </p:txBody>
      </p:sp>
      <p:sp>
        <p:nvSpPr>
          <p:cNvPr id="13" name="kpi card"/>
          <p:cNvSpPr/>
          <p:nvPr/>
        </p:nvSpPr>
        <p:spPr>
          <a:xfrm>
            <a:off x="457200" y="1554480"/>
            <a:ext cx="1764792" cy="777240"/>
          </a:xfrm>
          <a:prstGeom prst="roundRect">
            <a:avLst>
              <a:gd name="adj" fmla="val 9412"/>
            </a:avLst>
          </a:prstGeom>
          <a:solidFill>
            <a:schemeClr val="bg2"/>
          </a:solidFill>
          <a:ln w="12700">
            <a:solidFill>
              <a:schemeClr val="bg2"/>
            </a:solidFill>
            <a:prstDash val="solid"/>
          </a:ln>
        </p:spPr>
      </p:sp>
      <p:sp>
        <p:nvSpPr>
          <p:cNvPr id="14" name="Text 12"/>
          <p:cNvSpPr txBox="1"/>
          <p:nvPr/>
        </p:nvSpPr>
        <p:spPr>
          <a:xfrm>
            <a:off x="457200"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₹12.77 cr</a:t>
            </a:r>
            <a:endParaRPr lang="en-US" sz="1800" dirty="0"/>
          </a:p>
        </p:txBody>
      </p:sp>
      <p:sp>
        <p:nvSpPr>
          <p:cNvPr id="15" name="Text 13"/>
          <p:cNvSpPr txBox="1"/>
          <p:nvPr/>
        </p:nvSpPr>
        <p:spPr>
          <a:xfrm>
            <a:off x="457200"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Total Revenue</a:t>
            </a:r>
            <a:endParaRPr lang="en-US" sz="1100" dirty="0"/>
          </a:p>
        </p:txBody>
      </p:sp>
      <p:sp>
        <p:nvSpPr>
          <p:cNvPr id="16" name="kpi card"/>
          <p:cNvSpPr/>
          <p:nvPr/>
        </p:nvSpPr>
        <p:spPr>
          <a:xfrm>
            <a:off x="2350008" y="1554480"/>
            <a:ext cx="1764792" cy="777240"/>
          </a:xfrm>
          <a:prstGeom prst="roundRect">
            <a:avLst>
              <a:gd name="adj" fmla="val 9412"/>
            </a:avLst>
          </a:prstGeom>
          <a:solidFill>
            <a:schemeClr val="bg2"/>
          </a:solidFill>
          <a:ln w="12700">
            <a:solidFill>
              <a:schemeClr val="bg2"/>
            </a:solidFill>
            <a:prstDash val="solid"/>
          </a:ln>
        </p:spPr>
      </p:sp>
      <p:sp>
        <p:nvSpPr>
          <p:cNvPr id="17" name="Text 15"/>
          <p:cNvSpPr txBox="1"/>
          <p:nvPr/>
        </p:nvSpPr>
        <p:spPr>
          <a:xfrm>
            <a:off x="2350008"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₹1.64 cr</a:t>
            </a:r>
            <a:endParaRPr lang="en-US" sz="1800" dirty="0"/>
          </a:p>
        </p:txBody>
      </p:sp>
      <p:sp>
        <p:nvSpPr>
          <p:cNvPr id="18" name="Text 16"/>
          <p:cNvSpPr txBox="1"/>
          <p:nvPr/>
        </p:nvSpPr>
        <p:spPr>
          <a:xfrm>
            <a:off x="2350008"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Total Profit</a:t>
            </a:r>
            <a:endParaRPr lang="en-US" sz="1100" dirty="0"/>
          </a:p>
        </p:txBody>
      </p:sp>
      <p:sp>
        <p:nvSpPr>
          <p:cNvPr id="19" name="kpi card"/>
          <p:cNvSpPr/>
          <p:nvPr/>
        </p:nvSpPr>
        <p:spPr>
          <a:xfrm>
            <a:off x="4242816" y="1554480"/>
            <a:ext cx="1764792" cy="777240"/>
          </a:xfrm>
          <a:prstGeom prst="roundRect">
            <a:avLst>
              <a:gd name="adj" fmla="val 9412"/>
            </a:avLst>
          </a:prstGeom>
          <a:solidFill>
            <a:schemeClr val="bg2"/>
          </a:solidFill>
          <a:ln w="12700">
            <a:solidFill>
              <a:schemeClr val="bg2"/>
            </a:solidFill>
            <a:prstDash val="solid"/>
          </a:ln>
        </p:spPr>
      </p:sp>
      <p:sp>
        <p:nvSpPr>
          <p:cNvPr id="20" name="Text 18"/>
          <p:cNvSpPr txBox="1"/>
          <p:nvPr/>
        </p:nvSpPr>
        <p:spPr>
          <a:xfrm>
            <a:off x="4242816"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4,396</a:t>
            </a:r>
            <a:endParaRPr lang="en-US" sz="1800" dirty="0"/>
          </a:p>
        </p:txBody>
      </p:sp>
      <p:sp>
        <p:nvSpPr>
          <p:cNvPr id="21" name="Text 19"/>
          <p:cNvSpPr txBox="1"/>
          <p:nvPr/>
        </p:nvSpPr>
        <p:spPr>
          <a:xfrm>
            <a:off x="4242816"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Total Orders</a:t>
            </a:r>
            <a:endParaRPr lang="en-US" sz="1100" dirty="0"/>
          </a:p>
        </p:txBody>
      </p:sp>
      <p:sp>
        <p:nvSpPr>
          <p:cNvPr id="22" name="kpi card"/>
          <p:cNvSpPr/>
          <p:nvPr/>
        </p:nvSpPr>
        <p:spPr>
          <a:xfrm>
            <a:off x="6135624" y="1554480"/>
            <a:ext cx="1764792" cy="777240"/>
          </a:xfrm>
          <a:prstGeom prst="roundRect">
            <a:avLst>
              <a:gd name="adj" fmla="val 9412"/>
            </a:avLst>
          </a:prstGeom>
          <a:solidFill>
            <a:schemeClr val="bg2"/>
          </a:solidFill>
          <a:ln w="12700">
            <a:solidFill>
              <a:schemeClr val="bg2"/>
            </a:solidFill>
            <a:prstDash val="solid"/>
          </a:ln>
        </p:spPr>
      </p:sp>
      <p:sp>
        <p:nvSpPr>
          <p:cNvPr id="23" name="Text 21"/>
          <p:cNvSpPr txBox="1"/>
          <p:nvPr/>
        </p:nvSpPr>
        <p:spPr>
          <a:xfrm>
            <a:off x="6135624"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754</a:t>
            </a:r>
            <a:endParaRPr lang="en-US" sz="1800" dirty="0"/>
          </a:p>
        </p:txBody>
      </p:sp>
      <p:sp>
        <p:nvSpPr>
          <p:cNvPr id="24" name="Text 22"/>
          <p:cNvSpPr txBox="1"/>
          <p:nvPr/>
        </p:nvSpPr>
        <p:spPr>
          <a:xfrm>
            <a:off x="6135624"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Total Customers</a:t>
            </a:r>
            <a:endParaRPr lang="en-US" sz="1100" dirty="0"/>
          </a:p>
        </p:txBody>
      </p:sp>
      <p:sp>
        <p:nvSpPr>
          <p:cNvPr id="25" name="kpi card"/>
          <p:cNvSpPr/>
          <p:nvPr/>
        </p:nvSpPr>
        <p:spPr>
          <a:xfrm>
            <a:off x="8028432" y="1554480"/>
            <a:ext cx="1764792" cy="777240"/>
          </a:xfrm>
          <a:prstGeom prst="roundRect">
            <a:avLst>
              <a:gd name="adj" fmla="val 9412"/>
            </a:avLst>
          </a:prstGeom>
          <a:solidFill>
            <a:schemeClr val="bg2"/>
          </a:solidFill>
          <a:ln w="12700">
            <a:solidFill>
              <a:schemeClr val="bg2"/>
            </a:solidFill>
            <a:prstDash val="solid"/>
          </a:ln>
        </p:spPr>
      </p:sp>
      <p:sp>
        <p:nvSpPr>
          <p:cNvPr id="26" name="Text 24"/>
          <p:cNvSpPr txBox="1"/>
          <p:nvPr/>
        </p:nvSpPr>
        <p:spPr>
          <a:xfrm>
            <a:off x="8028432"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₹29,048</a:t>
            </a:r>
            <a:endParaRPr lang="en-US" sz="1800" dirty="0"/>
          </a:p>
        </p:txBody>
      </p:sp>
      <p:sp>
        <p:nvSpPr>
          <p:cNvPr id="27" name="Text 25"/>
          <p:cNvSpPr txBox="1"/>
          <p:nvPr/>
        </p:nvSpPr>
        <p:spPr>
          <a:xfrm>
            <a:off x="8028432"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Avg Order Value</a:t>
            </a:r>
            <a:endParaRPr lang="en-US" sz="1100" dirty="0"/>
          </a:p>
        </p:txBody>
      </p:sp>
      <p:sp>
        <p:nvSpPr>
          <p:cNvPr id="28" name="kpi card"/>
          <p:cNvSpPr/>
          <p:nvPr/>
        </p:nvSpPr>
        <p:spPr>
          <a:xfrm>
            <a:off x="9921240" y="1554480"/>
            <a:ext cx="1764792" cy="777240"/>
          </a:xfrm>
          <a:prstGeom prst="roundRect">
            <a:avLst>
              <a:gd name="adj" fmla="val 9412"/>
            </a:avLst>
          </a:prstGeom>
          <a:solidFill>
            <a:schemeClr val="bg2"/>
          </a:solidFill>
          <a:ln w="12700">
            <a:solidFill>
              <a:schemeClr val="bg2"/>
            </a:solidFill>
            <a:prstDash val="solid"/>
          </a:ln>
        </p:spPr>
      </p:sp>
      <p:sp>
        <p:nvSpPr>
          <p:cNvPr id="29" name="Text 27"/>
          <p:cNvSpPr txBox="1"/>
          <p:nvPr/>
        </p:nvSpPr>
        <p:spPr>
          <a:xfrm>
            <a:off x="9921240" y="1591056"/>
            <a:ext cx="1764792"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12.9%</a:t>
            </a:r>
            <a:endParaRPr lang="en-US" sz="1800" dirty="0"/>
          </a:p>
        </p:txBody>
      </p:sp>
      <p:sp>
        <p:nvSpPr>
          <p:cNvPr id="30" name="Text 28"/>
          <p:cNvSpPr txBox="1"/>
          <p:nvPr/>
        </p:nvSpPr>
        <p:spPr>
          <a:xfrm>
            <a:off x="9921240" y="2011680"/>
            <a:ext cx="1764792" cy="256032"/>
          </a:xfrm>
          <a:prstGeom prst="rect">
            <a:avLst/>
          </a:prstGeom>
          <a:noFill/>
          <a:ln/>
        </p:spPr>
        <p:txBody>
          <a:bodyPr wrap="square" lIns="0" tIns="0" rIns="0" bIns="0" rtlCol="0" anchor="ctr"/>
          <a:lstStyle/>
          <a:p>
            <a:pPr marL="0" indent="0" algn="ctr">
              <a:buNone/>
            </a:pPr>
            <a:r>
              <a:rPr lang="en-US" sz="1100" dirty="0">
                <a:solidFill>
                  <a:srgbClr val="5B6B7B"/>
                </a:solidFill>
              </a:rPr>
              <a:t>Profit Margin</a:t>
            </a:r>
            <a:endParaRPr lang="en-US" sz="1100" dirty="0"/>
          </a:p>
        </p:txBody>
      </p:sp>
      <p:sp>
        <p:nvSpPr>
          <p:cNvPr id="31" name="chart title"/>
          <p:cNvSpPr txBox="1"/>
          <p:nvPr/>
        </p:nvSpPr>
        <p:spPr>
          <a:xfrm>
            <a:off x="457200" y="2423160"/>
            <a:ext cx="4572000" cy="274320"/>
          </a:xfrm>
          <a:prstGeom prst="rect">
            <a:avLst/>
          </a:prstGeom>
          <a:noFill/>
          <a:ln/>
        </p:spPr>
        <p:txBody>
          <a:bodyPr wrap="square" lIns="0" tIns="0" rIns="0" bIns="0" rtlCol="0" anchor="ctr"/>
          <a:lstStyle/>
          <a:p>
            <a:pPr marL="0" indent="0">
              <a:buNone/>
            </a:pPr>
            <a:r>
              <a:rPr lang="en-US" sz="1400" b="1" dirty="0">
                <a:solidFill>
                  <a:schemeClr val="tx1"/>
                </a:solidFill>
              </a:rPr>
              <a:t>Revenue trend (₹ lakh)</a:t>
            </a:r>
            <a:endParaRPr lang="en-US" sz="1400" dirty="0"/>
          </a:p>
        </p:txBody>
      </p:sp>
      <p:graphicFrame>
        <p:nvGraphicFramePr>
          <p:cNvPr id="32" name="Chart 0"/>
          <p:cNvGraphicFramePr/>
          <p:nvPr/>
        </p:nvGraphicFramePr>
        <p:xfrm>
          <a:off x="365760" y="2670048"/>
          <a:ext cx="5669280"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33" name="chart title"/>
          <p:cNvSpPr txBox="1"/>
          <p:nvPr/>
        </p:nvSpPr>
        <p:spPr>
          <a:xfrm>
            <a:off x="6217920" y="2423160"/>
            <a:ext cx="4572000" cy="274320"/>
          </a:xfrm>
          <a:prstGeom prst="rect">
            <a:avLst/>
          </a:prstGeom>
          <a:noFill/>
          <a:ln/>
        </p:spPr>
        <p:txBody>
          <a:bodyPr wrap="square" lIns="0" tIns="0" rIns="0" bIns="0" rtlCol="0" anchor="ctr"/>
          <a:lstStyle/>
          <a:p>
            <a:pPr marL="0" indent="0">
              <a:buNone/>
            </a:pPr>
            <a:r>
              <a:rPr lang="en-US" sz="1400" b="1" dirty="0">
                <a:solidFill>
                  <a:schemeClr val="tx1"/>
                </a:solidFill>
              </a:rPr>
              <a:t>Profit trend (₹ lakh)</a:t>
            </a:r>
            <a:endParaRPr lang="en-US" sz="1400" dirty="0"/>
          </a:p>
        </p:txBody>
      </p:sp>
      <p:graphicFrame>
        <p:nvGraphicFramePr>
          <p:cNvPr id="34" name="Chart 1"/>
          <p:cNvGraphicFramePr/>
          <p:nvPr/>
        </p:nvGraphicFramePr>
        <p:xfrm>
          <a:off x="6126480" y="2670048"/>
          <a:ext cx="566928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5" name="chart title"/>
          <p:cNvSpPr txBox="1"/>
          <p:nvPr/>
        </p:nvSpPr>
        <p:spPr>
          <a:xfrm>
            <a:off x="457200" y="4224528"/>
            <a:ext cx="3200400" cy="274320"/>
          </a:xfrm>
          <a:prstGeom prst="rect">
            <a:avLst/>
          </a:prstGeom>
          <a:noFill/>
          <a:ln/>
        </p:spPr>
        <p:txBody>
          <a:bodyPr wrap="square" lIns="0" tIns="0" rIns="0" bIns="0" rtlCol="0" anchor="ctr"/>
          <a:lstStyle/>
          <a:p>
            <a:pPr marL="0" indent="0">
              <a:buNone/>
            </a:pPr>
            <a:r>
              <a:rPr lang="en-US" sz="1400" b="1" dirty="0">
                <a:solidFill>
                  <a:schemeClr val="tx1"/>
                </a:solidFill>
              </a:rPr>
              <a:t>Sales by category (₹ lakh)</a:t>
            </a:r>
            <a:endParaRPr lang="en-US" sz="1400" dirty="0"/>
          </a:p>
        </p:txBody>
      </p:sp>
      <p:graphicFrame>
        <p:nvGraphicFramePr>
          <p:cNvPr id="36" name="Chart 2"/>
          <p:cNvGraphicFramePr/>
          <p:nvPr/>
        </p:nvGraphicFramePr>
        <p:xfrm>
          <a:off x="365760" y="4480560"/>
          <a:ext cx="3566160" cy="1920240"/>
        </p:xfrm>
        <a:graphic>
          <a:graphicData uri="http://schemas.openxmlformats.org/drawingml/2006/chart">
            <c:chart xmlns:c="http://schemas.openxmlformats.org/drawingml/2006/chart" xmlns:r="http://schemas.openxmlformats.org/officeDocument/2006/relationships" r:id="rId5"/>
          </a:graphicData>
        </a:graphic>
      </p:graphicFrame>
      <p:sp>
        <p:nvSpPr>
          <p:cNvPr id="37" name="chart title"/>
          <p:cNvSpPr txBox="1"/>
          <p:nvPr/>
        </p:nvSpPr>
        <p:spPr>
          <a:xfrm>
            <a:off x="4114800" y="4224528"/>
            <a:ext cx="3200400" cy="274320"/>
          </a:xfrm>
          <a:prstGeom prst="rect">
            <a:avLst/>
          </a:prstGeom>
          <a:noFill/>
          <a:ln/>
        </p:spPr>
        <p:txBody>
          <a:bodyPr wrap="square" lIns="0" tIns="0" rIns="0" bIns="0" rtlCol="0" anchor="ctr"/>
          <a:lstStyle/>
          <a:p>
            <a:pPr marL="0" indent="0">
              <a:buNone/>
            </a:pPr>
            <a:r>
              <a:rPr lang="en-US" sz="1400" b="1" dirty="0">
                <a:solidFill>
                  <a:schemeClr val="tx1"/>
                </a:solidFill>
              </a:rPr>
              <a:t>Sales by region (₹ lakh)</a:t>
            </a:r>
            <a:endParaRPr lang="en-US" sz="1400" dirty="0"/>
          </a:p>
        </p:txBody>
      </p:sp>
      <p:graphicFrame>
        <p:nvGraphicFramePr>
          <p:cNvPr id="38" name="Chart 3"/>
          <p:cNvGraphicFramePr/>
          <p:nvPr/>
        </p:nvGraphicFramePr>
        <p:xfrm>
          <a:off x="4023360" y="4480560"/>
          <a:ext cx="3657600" cy="1920240"/>
        </p:xfrm>
        <a:graphic>
          <a:graphicData uri="http://schemas.openxmlformats.org/drawingml/2006/chart">
            <c:chart xmlns:c="http://schemas.openxmlformats.org/drawingml/2006/chart" xmlns:r="http://schemas.openxmlformats.org/officeDocument/2006/relationships" r:id="rId6"/>
          </a:graphicData>
        </a:graphic>
      </p:graphicFrame>
      <p:sp>
        <p:nvSpPr>
          <p:cNvPr id="39" name="chart title"/>
          <p:cNvSpPr txBox="1"/>
          <p:nvPr/>
        </p:nvSpPr>
        <p:spPr>
          <a:xfrm>
            <a:off x="7955280" y="4224528"/>
            <a:ext cx="3657600" cy="274320"/>
          </a:xfrm>
          <a:prstGeom prst="rect">
            <a:avLst/>
          </a:prstGeom>
          <a:noFill/>
          <a:ln/>
        </p:spPr>
        <p:txBody>
          <a:bodyPr wrap="square" lIns="0" tIns="0" rIns="0" bIns="0" rtlCol="0" anchor="ctr"/>
          <a:lstStyle/>
          <a:p>
            <a:pPr marL="0" indent="0">
              <a:buNone/>
            </a:pPr>
            <a:r>
              <a:rPr lang="en-US" sz="1400" b="1" dirty="0">
                <a:solidFill>
                  <a:schemeClr val="tx1"/>
                </a:solidFill>
              </a:rPr>
              <a:t>Top 10 products (₹ lakh)</a:t>
            </a:r>
            <a:endParaRPr lang="en-US" sz="1400" dirty="0"/>
          </a:p>
        </p:txBody>
      </p:sp>
      <p:graphicFrame>
        <p:nvGraphicFramePr>
          <p:cNvPr id="40" name="Chart 4"/>
          <p:cNvGraphicFramePr/>
          <p:nvPr/>
        </p:nvGraphicFramePr>
        <p:xfrm>
          <a:off x="7863840" y="4480560"/>
          <a:ext cx="3931920" cy="1965960"/>
        </p:xfrm>
        <a:graphic>
          <a:graphicData uri="http://schemas.openxmlformats.org/drawingml/2006/chart">
            <c:chart xmlns:c="http://schemas.openxmlformats.org/drawingml/2006/chart" xmlns:r="http://schemas.openxmlformats.org/officeDocument/2006/relationships" r:id="rId7"/>
          </a:graphicData>
        </a:graphic>
      </p:graphicFrame>
      <p:sp>
        <p:nvSpPr>
          <p:cNvPr id="41"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11247120" cy="731520"/>
          </a:xfrm>
          <a:prstGeom prst="rect">
            <a:avLst/>
          </a:prstGeom>
          <a:noFill/>
          <a:ln/>
        </p:spPr>
        <p:txBody>
          <a:bodyPr wrap="square" lIns="0" tIns="0" rIns="0" bIns="0" rtlCol="0" anchor="ctr"/>
          <a:lstStyle/>
          <a:p>
            <a:pPr marL="0" indent="0">
              <a:buNone/>
            </a:pPr>
            <a:r>
              <a:rPr lang="en-US" sz="3200" b="1" dirty="0">
                <a:solidFill>
                  <a:srgbClr val="1B2A3A"/>
                </a:solidFill>
                <a:latin typeface="Cambria" pitchFamily="34" charset="0"/>
                <a:ea typeface="Cambria" pitchFamily="34" charset="-122"/>
                <a:cs typeface="Cambria" pitchFamily="34" charset="-120"/>
              </a:rPr>
              <a:t>Dashboard 2: Customers and products</a:t>
            </a:r>
            <a:endParaRPr lang="en-US" sz="3200" dirty="0"/>
          </a:p>
        </p:txBody>
      </p:sp>
      <p:sp>
        <p:nvSpPr>
          <p:cNvPr id="3" name="Text 1"/>
          <p:cNvSpPr txBox="1"/>
          <p:nvPr/>
        </p:nvSpPr>
        <p:spPr>
          <a:xfrm>
            <a:off x="457200" y="1097280"/>
            <a:ext cx="822960" cy="310896"/>
          </a:xfrm>
          <a:prstGeom prst="rect">
            <a:avLst/>
          </a:prstGeom>
          <a:noFill/>
          <a:ln/>
        </p:spPr>
        <p:txBody>
          <a:bodyPr wrap="square" lIns="0" tIns="0" rIns="0" bIns="0" rtlCol="0" anchor="ctr"/>
          <a:lstStyle/>
          <a:p>
            <a:pPr marL="0" indent="0">
              <a:buNone/>
            </a:pPr>
            <a:r>
              <a:rPr lang="en-US" sz="1200" b="1" dirty="0">
                <a:solidFill>
                  <a:srgbClr val="5B6B7B"/>
                </a:solidFill>
              </a:rPr>
              <a:t>Slicers:</a:t>
            </a:r>
            <a:endParaRPr lang="en-US" sz="1200" dirty="0"/>
          </a:p>
        </p:txBody>
      </p:sp>
      <p:sp>
        <p:nvSpPr>
          <p:cNvPr id="4" name="slicer chip"/>
          <p:cNvSpPr/>
          <p:nvPr/>
        </p:nvSpPr>
        <p:spPr>
          <a:xfrm>
            <a:off x="1234440" y="1097280"/>
            <a:ext cx="1463040" cy="310896"/>
          </a:xfrm>
          <a:prstGeom prst="roundRect">
            <a:avLst>
              <a:gd name="adj" fmla="val 50000"/>
            </a:avLst>
          </a:prstGeom>
          <a:solidFill>
            <a:srgbClr val="FFFFFF"/>
          </a:solidFill>
          <a:ln w="12700">
            <a:solidFill>
              <a:srgbClr val="7A8CA3"/>
            </a:solidFill>
            <a:prstDash val="solid"/>
          </a:ln>
        </p:spPr>
      </p:sp>
      <p:sp>
        <p:nvSpPr>
          <p:cNvPr id="5" name="Text 3"/>
          <p:cNvSpPr txBox="1"/>
          <p:nvPr/>
        </p:nvSpPr>
        <p:spPr>
          <a:xfrm>
            <a:off x="12344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Year  ▾</a:t>
            </a:r>
            <a:endParaRPr lang="en-US" sz="1100" dirty="0"/>
          </a:p>
        </p:txBody>
      </p:sp>
      <p:sp>
        <p:nvSpPr>
          <p:cNvPr id="6" name="slicer chip"/>
          <p:cNvSpPr/>
          <p:nvPr/>
        </p:nvSpPr>
        <p:spPr>
          <a:xfrm>
            <a:off x="2834640" y="1097280"/>
            <a:ext cx="1463040" cy="310896"/>
          </a:xfrm>
          <a:prstGeom prst="roundRect">
            <a:avLst>
              <a:gd name="adj" fmla="val 50000"/>
            </a:avLst>
          </a:prstGeom>
          <a:solidFill>
            <a:srgbClr val="FFFFFF"/>
          </a:solidFill>
          <a:ln w="12700">
            <a:solidFill>
              <a:srgbClr val="7A8CA3"/>
            </a:solidFill>
            <a:prstDash val="solid"/>
          </a:ln>
        </p:spPr>
      </p:sp>
      <p:sp>
        <p:nvSpPr>
          <p:cNvPr id="7" name="Text 5"/>
          <p:cNvSpPr txBox="1"/>
          <p:nvPr/>
        </p:nvSpPr>
        <p:spPr>
          <a:xfrm>
            <a:off x="28346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Region  ▾</a:t>
            </a:r>
            <a:endParaRPr lang="en-US" sz="1100" dirty="0"/>
          </a:p>
        </p:txBody>
      </p:sp>
      <p:sp>
        <p:nvSpPr>
          <p:cNvPr id="8" name="slicer chip"/>
          <p:cNvSpPr/>
          <p:nvPr/>
        </p:nvSpPr>
        <p:spPr>
          <a:xfrm>
            <a:off x="4434840" y="1097280"/>
            <a:ext cx="1463040" cy="310896"/>
          </a:xfrm>
          <a:prstGeom prst="roundRect">
            <a:avLst>
              <a:gd name="adj" fmla="val 50000"/>
            </a:avLst>
          </a:prstGeom>
          <a:solidFill>
            <a:srgbClr val="FFFFFF"/>
          </a:solidFill>
          <a:ln w="12700">
            <a:solidFill>
              <a:srgbClr val="7A8CA3"/>
            </a:solidFill>
            <a:prstDash val="solid"/>
          </a:ln>
        </p:spPr>
      </p:sp>
      <p:sp>
        <p:nvSpPr>
          <p:cNvPr id="9" name="Text 7"/>
          <p:cNvSpPr txBox="1"/>
          <p:nvPr/>
        </p:nvSpPr>
        <p:spPr>
          <a:xfrm>
            <a:off x="44348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Category  ▾</a:t>
            </a:r>
            <a:endParaRPr lang="en-US" sz="1100" dirty="0"/>
          </a:p>
        </p:txBody>
      </p:sp>
      <p:sp>
        <p:nvSpPr>
          <p:cNvPr id="10" name="slicer chip"/>
          <p:cNvSpPr/>
          <p:nvPr/>
        </p:nvSpPr>
        <p:spPr>
          <a:xfrm>
            <a:off x="6035040" y="1097280"/>
            <a:ext cx="1463040" cy="310896"/>
          </a:xfrm>
          <a:prstGeom prst="roundRect">
            <a:avLst>
              <a:gd name="adj" fmla="val 50000"/>
            </a:avLst>
          </a:prstGeom>
          <a:solidFill>
            <a:srgbClr val="FFFFFF"/>
          </a:solidFill>
          <a:ln w="12700">
            <a:solidFill>
              <a:srgbClr val="7A8CA3"/>
            </a:solidFill>
            <a:prstDash val="solid"/>
          </a:ln>
        </p:spPr>
      </p:sp>
      <p:sp>
        <p:nvSpPr>
          <p:cNvPr id="11" name="Text 9"/>
          <p:cNvSpPr txBox="1"/>
          <p:nvPr/>
        </p:nvSpPr>
        <p:spPr>
          <a:xfrm>
            <a:off x="6035040" y="1097280"/>
            <a:ext cx="1463040" cy="310896"/>
          </a:xfrm>
          <a:prstGeom prst="rect">
            <a:avLst/>
          </a:prstGeom>
          <a:noFill/>
          <a:ln/>
        </p:spPr>
        <p:txBody>
          <a:bodyPr wrap="square" lIns="0" tIns="0" rIns="0" bIns="0" rtlCol="0" anchor="ctr"/>
          <a:lstStyle/>
          <a:p>
            <a:pPr marL="0" indent="0" algn="ctr">
              <a:buNone/>
            </a:pPr>
            <a:r>
              <a:rPr lang="en-US" sz="1100" dirty="0">
                <a:solidFill>
                  <a:srgbClr val="5B6B7B"/>
                </a:solidFill>
              </a:rPr>
              <a:t>Segment  ▾</a:t>
            </a:r>
            <a:endParaRPr lang="en-US" sz="1100" dirty="0"/>
          </a:p>
        </p:txBody>
      </p:sp>
      <p:sp>
        <p:nvSpPr>
          <p:cNvPr id="12" name="Text 10"/>
          <p:cNvSpPr txBox="1"/>
          <p:nvPr/>
        </p:nvSpPr>
        <p:spPr>
          <a:xfrm>
            <a:off x="7589520" y="1097280"/>
            <a:ext cx="4114800" cy="310896"/>
          </a:xfrm>
          <a:prstGeom prst="rect">
            <a:avLst/>
          </a:prstGeom>
          <a:noFill/>
          <a:ln/>
        </p:spPr>
        <p:txBody>
          <a:bodyPr wrap="square" lIns="0" tIns="0" rIns="0" bIns="0" rtlCol="0" anchor="ctr"/>
          <a:lstStyle/>
          <a:p>
            <a:pPr marL="0" indent="0" algn="r">
              <a:buNone/>
            </a:pPr>
            <a:endParaRPr lang="en-US" sz="1100" dirty="0"/>
          </a:p>
        </p:txBody>
      </p:sp>
      <p:sp>
        <p:nvSpPr>
          <p:cNvPr id="13" name="chart title"/>
          <p:cNvSpPr txBox="1"/>
          <p:nvPr/>
        </p:nvSpPr>
        <p:spPr>
          <a:xfrm>
            <a:off x="457200" y="1600200"/>
            <a:ext cx="4114800" cy="274320"/>
          </a:xfrm>
          <a:prstGeom prst="rect">
            <a:avLst/>
          </a:prstGeom>
          <a:noFill/>
          <a:ln/>
        </p:spPr>
        <p:txBody>
          <a:bodyPr wrap="square" lIns="0" tIns="0" rIns="0" bIns="0" rtlCol="0" anchor="ctr"/>
          <a:lstStyle/>
          <a:p>
            <a:pPr marL="0" indent="0">
              <a:buNone/>
            </a:pPr>
            <a:r>
              <a:rPr lang="en-US" sz="1400" b="1" dirty="0">
                <a:solidFill>
                  <a:schemeClr val="tx1"/>
                </a:solidFill>
              </a:rPr>
              <a:t>Top 10 customers (₹ lakh)</a:t>
            </a:r>
            <a:endParaRPr lang="en-US" sz="1400" dirty="0"/>
          </a:p>
        </p:txBody>
      </p:sp>
      <p:graphicFrame>
        <p:nvGraphicFramePr>
          <p:cNvPr id="14" name="Chart 0"/>
          <p:cNvGraphicFramePr/>
          <p:nvPr/>
        </p:nvGraphicFramePr>
        <p:xfrm>
          <a:off x="365760" y="1874520"/>
          <a:ext cx="45720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15" name="chart title"/>
          <p:cNvSpPr txBox="1"/>
          <p:nvPr/>
        </p:nvSpPr>
        <p:spPr>
          <a:xfrm>
            <a:off x="5212080" y="160020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Customer group - sales share (%)</a:t>
            </a:r>
            <a:endParaRPr lang="en-US" sz="1400" dirty="0"/>
          </a:p>
        </p:txBody>
      </p:sp>
      <p:graphicFrame>
        <p:nvGraphicFramePr>
          <p:cNvPr id="16" name="Chart 1"/>
          <p:cNvGraphicFramePr/>
          <p:nvPr/>
        </p:nvGraphicFramePr>
        <p:xfrm>
          <a:off x="5120640" y="1874520"/>
          <a:ext cx="3291840" cy="2011680"/>
        </p:xfrm>
        <a:graphic>
          <a:graphicData uri="http://schemas.openxmlformats.org/drawingml/2006/chart">
            <c:chart xmlns:c="http://schemas.openxmlformats.org/drawingml/2006/chart" xmlns:r="http://schemas.openxmlformats.org/officeDocument/2006/relationships" r:id="rId4"/>
          </a:graphicData>
        </a:graphic>
      </p:graphicFrame>
      <p:sp>
        <p:nvSpPr>
          <p:cNvPr id="17" name="chart title"/>
          <p:cNvSpPr txBox="1"/>
          <p:nvPr/>
        </p:nvSpPr>
        <p:spPr>
          <a:xfrm>
            <a:off x="8595360" y="160020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Category: sales and profit (₹ lakh)</a:t>
            </a:r>
            <a:endParaRPr lang="en-US" sz="1400" dirty="0"/>
          </a:p>
        </p:txBody>
      </p:sp>
      <p:graphicFrame>
        <p:nvGraphicFramePr>
          <p:cNvPr id="18" name="Chart 2"/>
          <p:cNvGraphicFramePr/>
          <p:nvPr/>
        </p:nvGraphicFramePr>
        <p:xfrm>
          <a:off x="8503920" y="1874520"/>
          <a:ext cx="3291840" cy="2011680"/>
        </p:xfrm>
        <a:graphic>
          <a:graphicData uri="http://schemas.openxmlformats.org/drawingml/2006/chart">
            <c:chart xmlns:c="http://schemas.openxmlformats.org/drawingml/2006/chart" xmlns:r="http://schemas.openxmlformats.org/officeDocument/2006/relationships" r:id="rId5"/>
          </a:graphicData>
        </a:graphic>
      </p:graphicFrame>
      <p:sp>
        <p:nvSpPr>
          <p:cNvPr id="19" name="chart title"/>
          <p:cNvSpPr txBox="1"/>
          <p:nvPr/>
        </p:nvSpPr>
        <p:spPr>
          <a:xfrm>
            <a:off x="5212080" y="402336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Top 5 products (₹ lakh)</a:t>
            </a:r>
            <a:endParaRPr lang="en-US" sz="1400" dirty="0"/>
          </a:p>
        </p:txBody>
      </p:sp>
      <p:graphicFrame>
        <p:nvGraphicFramePr>
          <p:cNvPr id="20" name="Chart 3"/>
          <p:cNvGraphicFramePr/>
          <p:nvPr/>
        </p:nvGraphicFramePr>
        <p:xfrm>
          <a:off x="5120640" y="4297680"/>
          <a:ext cx="3291840" cy="2103120"/>
        </p:xfrm>
        <a:graphic>
          <a:graphicData uri="http://schemas.openxmlformats.org/drawingml/2006/chart">
            <c:chart xmlns:c="http://schemas.openxmlformats.org/drawingml/2006/chart" xmlns:r="http://schemas.openxmlformats.org/officeDocument/2006/relationships" r:id="rId6"/>
          </a:graphicData>
        </a:graphic>
      </p:graphicFrame>
      <p:sp>
        <p:nvSpPr>
          <p:cNvPr id="21" name="chart title"/>
          <p:cNvSpPr txBox="1"/>
          <p:nvPr/>
        </p:nvSpPr>
        <p:spPr>
          <a:xfrm>
            <a:off x="8595360" y="4023360"/>
            <a:ext cx="3291840" cy="274320"/>
          </a:xfrm>
          <a:prstGeom prst="rect">
            <a:avLst/>
          </a:prstGeom>
          <a:noFill/>
          <a:ln/>
        </p:spPr>
        <p:txBody>
          <a:bodyPr wrap="square" lIns="0" tIns="0" rIns="0" bIns="0" rtlCol="0" anchor="ctr"/>
          <a:lstStyle/>
          <a:p>
            <a:pPr marL="0" indent="0">
              <a:buNone/>
            </a:pPr>
            <a:r>
              <a:rPr lang="en-US" sz="1400" b="1" dirty="0">
                <a:solidFill>
                  <a:schemeClr val="tx1"/>
                </a:solidFill>
              </a:rPr>
              <a:t>Bottom 5 products (₹ thousand)</a:t>
            </a:r>
            <a:endParaRPr lang="en-US" sz="1400" dirty="0"/>
          </a:p>
        </p:txBody>
      </p:sp>
      <p:graphicFrame>
        <p:nvGraphicFramePr>
          <p:cNvPr id="22" name="Chart 4"/>
          <p:cNvGraphicFramePr/>
          <p:nvPr/>
        </p:nvGraphicFramePr>
        <p:xfrm>
          <a:off x="8503920" y="4297680"/>
          <a:ext cx="3291840" cy="2103120"/>
        </p:xfrm>
        <a:graphic>
          <a:graphicData uri="http://schemas.openxmlformats.org/drawingml/2006/chart">
            <c:chart xmlns:c="http://schemas.openxmlformats.org/drawingml/2006/chart" xmlns:r="http://schemas.openxmlformats.org/officeDocument/2006/relationships" r:id="rId7"/>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CA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1097280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What we found and what to do</a:t>
            </a:r>
            <a:endParaRPr lang="en-US" sz="3600" dirty="0"/>
          </a:p>
        </p:txBody>
      </p:sp>
      <p:sp>
        <p:nvSpPr>
          <p:cNvPr id="3" name="Text 1"/>
          <p:cNvSpPr txBox="1"/>
          <p:nvPr/>
        </p:nvSpPr>
        <p:spPr>
          <a:xfrm>
            <a:off x="640080" y="1554480"/>
            <a:ext cx="5029200" cy="365760"/>
          </a:xfrm>
          <a:prstGeom prst="rect">
            <a:avLst/>
          </a:prstGeom>
          <a:noFill/>
          <a:ln/>
        </p:spPr>
        <p:txBody>
          <a:bodyPr wrap="square" lIns="0" tIns="0" rIns="0" bIns="0" rtlCol="0" anchor="ctr"/>
          <a:lstStyle/>
          <a:p>
            <a:pPr marL="0" indent="0">
              <a:buNone/>
            </a:pPr>
            <a:r>
              <a:rPr lang="en-US" sz="2000" b="1" dirty="0">
                <a:solidFill>
                  <a:srgbClr val="F28C28"/>
                </a:solidFill>
              </a:rPr>
              <a:t>Findings</a:t>
            </a:r>
            <a:endParaRPr lang="en-US" sz="2000" dirty="0"/>
          </a:p>
        </p:txBody>
      </p:sp>
      <p:sp>
        <p:nvSpPr>
          <p:cNvPr id="4" name="Text 2"/>
          <p:cNvSpPr txBox="1"/>
          <p:nvPr/>
        </p:nvSpPr>
        <p:spPr>
          <a:xfrm>
            <a:off x="640080" y="201168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Sales grow every year (+31% in 2025)</a:t>
            </a:r>
            <a:endParaRPr lang="en-US" sz="1800" dirty="0"/>
          </a:p>
          <a:p>
            <a:pPr marL="342900" indent="-342900">
              <a:spcAft>
                <a:spcPts val="1000"/>
              </a:spcAft>
              <a:buSzPct val="100000"/>
              <a:buChar char="•"/>
            </a:pPr>
            <a:r>
              <a:rPr lang="en-US" sz="1800" dirty="0">
                <a:solidFill>
                  <a:srgbClr val="FFFFFF"/>
                </a:solidFill>
              </a:rPr>
              <a:t>Technology gives 56% of all sales</a:t>
            </a:r>
            <a:endParaRPr lang="en-US" sz="1800" dirty="0"/>
          </a:p>
          <a:p>
            <a:pPr marL="342900" indent="-342900">
              <a:spcAft>
                <a:spcPts val="1000"/>
              </a:spcAft>
              <a:buSzPct val="100000"/>
              <a:buChar char="•"/>
            </a:pPr>
            <a:r>
              <a:rPr lang="en-US" sz="1800" dirty="0">
                <a:solidFill>
                  <a:srgbClr val="FFFFFF"/>
                </a:solidFill>
              </a:rPr>
              <a:t>Furniture and the West region earn the least profit</a:t>
            </a:r>
            <a:endParaRPr lang="en-US" sz="1800" dirty="0"/>
          </a:p>
          <a:p>
            <a:pPr marL="342900" indent="-342900">
              <a:spcAft>
                <a:spcPts val="1000"/>
              </a:spcAft>
              <a:buSzPct val="100000"/>
              <a:buChar char="•"/>
            </a:pPr>
            <a:r>
              <a:rPr lang="en-US" sz="1800" dirty="0">
                <a:solidFill>
                  <a:srgbClr val="FFFFFF"/>
                </a:solidFill>
              </a:rPr>
              <a:t>Discount above 20% makes a loss (-27.3%)</a:t>
            </a:r>
            <a:endParaRPr lang="en-US" sz="1800" dirty="0"/>
          </a:p>
          <a:p>
            <a:pPr marL="342900" indent="-342900">
              <a:spcAft>
                <a:spcPts val="1000"/>
              </a:spcAft>
              <a:buSzPct val="100000"/>
              <a:buChar char="•"/>
            </a:pPr>
            <a:r>
              <a:rPr lang="en-US" sz="1800" dirty="0">
                <a:solidFill>
                  <a:srgbClr val="FFFFFF"/>
                </a:solidFill>
              </a:rPr>
              <a:t>75% of customers buy again</a:t>
            </a:r>
            <a:endParaRPr lang="en-US" sz="1800" dirty="0"/>
          </a:p>
        </p:txBody>
      </p:sp>
      <p:sp>
        <p:nvSpPr>
          <p:cNvPr id="5" name="Text 3"/>
          <p:cNvSpPr txBox="1"/>
          <p:nvPr/>
        </p:nvSpPr>
        <p:spPr>
          <a:xfrm>
            <a:off x="6309360" y="1554480"/>
            <a:ext cx="5029200" cy="365760"/>
          </a:xfrm>
          <a:prstGeom prst="rect">
            <a:avLst/>
          </a:prstGeom>
          <a:noFill/>
          <a:ln/>
        </p:spPr>
        <p:txBody>
          <a:bodyPr wrap="square" lIns="0" tIns="0" rIns="0" bIns="0" rtlCol="0" anchor="ctr"/>
          <a:lstStyle/>
          <a:p>
            <a:pPr marL="0" indent="0">
              <a:buNone/>
            </a:pPr>
            <a:r>
              <a:rPr lang="en-US" sz="2000" b="1" dirty="0">
                <a:solidFill>
                  <a:srgbClr val="F28C28"/>
                </a:solidFill>
              </a:rPr>
              <a:t>Recommendations</a:t>
            </a:r>
            <a:endParaRPr lang="en-US" sz="2000" dirty="0"/>
          </a:p>
        </p:txBody>
      </p:sp>
      <p:sp>
        <p:nvSpPr>
          <p:cNvPr id="6" name="recommendation card"/>
          <p:cNvSpPr/>
          <p:nvPr/>
        </p:nvSpPr>
        <p:spPr>
          <a:xfrm>
            <a:off x="6309360" y="2011680"/>
            <a:ext cx="5212080" cy="621792"/>
          </a:xfrm>
          <a:prstGeom prst="roundRect">
            <a:avLst>
              <a:gd name="adj" fmla="val 11765"/>
            </a:avLst>
          </a:prstGeom>
          <a:solidFill>
            <a:srgbClr val="1D3A5C"/>
          </a:solidFill>
          <a:ln w="12700">
            <a:solidFill>
              <a:srgbClr val="1D3A5C"/>
            </a:solidFill>
            <a:prstDash val="solid"/>
          </a:ln>
        </p:spPr>
      </p:sp>
      <p:sp>
        <p:nvSpPr>
          <p:cNvPr id="7" name="Text 5"/>
          <p:cNvSpPr txBox="1"/>
          <p:nvPr/>
        </p:nvSpPr>
        <p:spPr>
          <a:xfrm>
            <a:off x="6400800" y="2103120"/>
            <a:ext cx="438912" cy="438912"/>
          </a:xfrm>
          <a:prstGeom prst="ellipse">
            <a:avLst/>
          </a:prstGeom>
          <a:solidFill>
            <a:srgbClr val="F28C28"/>
          </a:solidFill>
          <a:ln/>
        </p:spPr>
        <p:txBody>
          <a:bodyPr wrap="square" lIns="0" tIns="0" rIns="0" bIns="0" rtlCol="0" anchor="ctr"/>
          <a:lstStyle/>
          <a:p>
            <a:pPr marL="0" indent="0" algn="ctr">
              <a:buNone/>
            </a:pPr>
            <a:r>
              <a:rPr lang="en-US" sz="1400" b="1" dirty="0">
                <a:solidFill>
                  <a:srgbClr val="12263F"/>
                </a:solidFill>
              </a:rPr>
              <a:t>1</a:t>
            </a:r>
            <a:endParaRPr lang="en-US" sz="1400" dirty="0"/>
          </a:p>
        </p:txBody>
      </p:sp>
      <p:sp>
        <p:nvSpPr>
          <p:cNvPr id="8" name="Text 6"/>
          <p:cNvSpPr txBox="1"/>
          <p:nvPr/>
        </p:nvSpPr>
        <p:spPr>
          <a:xfrm>
            <a:off x="6995160" y="2011680"/>
            <a:ext cx="4434840" cy="621792"/>
          </a:xfrm>
          <a:prstGeom prst="rect">
            <a:avLst/>
          </a:prstGeom>
          <a:noFill/>
          <a:ln/>
        </p:spPr>
        <p:txBody>
          <a:bodyPr wrap="square" lIns="0" tIns="0" rIns="0" bIns="0" rtlCol="0" anchor="ctr"/>
          <a:lstStyle/>
          <a:p>
            <a:pPr marL="0" indent="0">
              <a:buNone/>
            </a:pPr>
            <a:r>
              <a:rPr lang="en-US" sz="1400" dirty="0">
                <a:solidFill>
                  <a:srgbClr val="FFFFFF"/>
                </a:solidFill>
              </a:rPr>
              <a:t>Keep a limit on discount (about 20%)</a:t>
            </a:r>
            <a:endParaRPr lang="en-US" sz="1400" dirty="0"/>
          </a:p>
        </p:txBody>
      </p:sp>
      <p:sp>
        <p:nvSpPr>
          <p:cNvPr id="9" name="recommendation card"/>
          <p:cNvSpPr/>
          <p:nvPr/>
        </p:nvSpPr>
        <p:spPr>
          <a:xfrm>
            <a:off x="6309360" y="2761488"/>
            <a:ext cx="5212080" cy="621792"/>
          </a:xfrm>
          <a:prstGeom prst="roundRect">
            <a:avLst>
              <a:gd name="adj" fmla="val 11765"/>
            </a:avLst>
          </a:prstGeom>
          <a:solidFill>
            <a:srgbClr val="1D3A5C"/>
          </a:solidFill>
          <a:ln w="12700">
            <a:solidFill>
              <a:srgbClr val="1D3A5C"/>
            </a:solidFill>
            <a:prstDash val="solid"/>
          </a:ln>
        </p:spPr>
      </p:sp>
      <p:sp>
        <p:nvSpPr>
          <p:cNvPr id="10" name="Text 8"/>
          <p:cNvSpPr txBox="1"/>
          <p:nvPr/>
        </p:nvSpPr>
        <p:spPr>
          <a:xfrm>
            <a:off x="6400800" y="2852928"/>
            <a:ext cx="438912" cy="438912"/>
          </a:xfrm>
          <a:prstGeom prst="ellipse">
            <a:avLst/>
          </a:prstGeom>
          <a:solidFill>
            <a:srgbClr val="F28C28"/>
          </a:solidFill>
          <a:ln/>
        </p:spPr>
        <p:txBody>
          <a:bodyPr wrap="square" lIns="0" tIns="0" rIns="0" bIns="0" rtlCol="0" anchor="ctr"/>
          <a:lstStyle/>
          <a:p>
            <a:pPr marL="0" indent="0" algn="ctr">
              <a:buNone/>
            </a:pPr>
            <a:r>
              <a:rPr lang="en-US" sz="1400" b="1" dirty="0">
                <a:solidFill>
                  <a:srgbClr val="12263F"/>
                </a:solidFill>
              </a:rPr>
              <a:t>2</a:t>
            </a:r>
            <a:endParaRPr lang="en-US" sz="1400" dirty="0"/>
          </a:p>
        </p:txBody>
      </p:sp>
      <p:sp>
        <p:nvSpPr>
          <p:cNvPr id="11" name="Text 9"/>
          <p:cNvSpPr txBox="1"/>
          <p:nvPr/>
        </p:nvSpPr>
        <p:spPr>
          <a:xfrm>
            <a:off x="6995160" y="2761488"/>
            <a:ext cx="4434840" cy="621792"/>
          </a:xfrm>
          <a:prstGeom prst="rect">
            <a:avLst/>
          </a:prstGeom>
          <a:noFill/>
          <a:ln/>
        </p:spPr>
        <p:txBody>
          <a:bodyPr wrap="square" lIns="0" tIns="0" rIns="0" bIns="0" rtlCol="0" anchor="ctr"/>
          <a:lstStyle/>
          <a:p>
            <a:pPr marL="0" indent="0">
              <a:buNone/>
            </a:pPr>
            <a:r>
              <a:rPr lang="en-US" sz="1400" dirty="0">
                <a:solidFill>
                  <a:srgbClr val="FFFFFF"/>
                </a:solidFill>
              </a:rPr>
              <a:t>Change price of loss-making products or stop them</a:t>
            </a:r>
            <a:endParaRPr lang="en-US" sz="1400" dirty="0"/>
          </a:p>
        </p:txBody>
      </p:sp>
      <p:sp>
        <p:nvSpPr>
          <p:cNvPr id="12" name="recommendation card"/>
          <p:cNvSpPr/>
          <p:nvPr/>
        </p:nvSpPr>
        <p:spPr>
          <a:xfrm>
            <a:off x="6309360" y="3511296"/>
            <a:ext cx="5212080" cy="621792"/>
          </a:xfrm>
          <a:prstGeom prst="roundRect">
            <a:avLst>
              <a:gd name="adj" fmla="val 11765"/>
            </a:avLst>
          </a:prstGeom>
          <a:solidFill>
            <a:srgbClr val="1D3A5C"/>
          </a:solidFill>
          <a:ln w="12700">
            <a:solidFill>
              <a:srgbClr val="1D3A5C"/>
            </a:solidFill>
            <a:prstDash val="solid"/>
          </a:ln>
        </p:spPr>
      </p:sp>
      <p:sp>
        <p:nvSpPr>
          <p:cNvPr id="13" name="Text 11"/>
          <p:cNvSpPr txBox="1"/>
          <p:nvPr/>
        </p:nvSpPr>
        <p:spPr>
          <a:xfrm>
            <a:off x="6400800" y="3602736"/>
            <a:ext cx="438912" cy="438912"/>
          </a:xfrm>
          <a:prstGeom prst="ellipse">
            <a:avLst/>
          </a:prstGeom>
          <a:solidFill>
            <a:srgbClr val="F28C28"/>
          </a:solidFill>
          <a:ln/>
        </p:spPr>
        <p:txBody>
          <a:bodyPr wrap="square" lIns="0" tIns="0" rIns="0" bIns="0" rtlCol="0" anchor="ctr"/>
          <a:lstStyle/>
          <a:p>
            <a:pPr marL="0" indent="0" algn="ctr">
              <a:buNone/>
            </a:pPr>
            <a:r>
              <a:rPr lang="en-US" sz="1400" b="1" dirty="0">
                <a:solidFill>
                  <a:srgbClr val="12263F"/>
                </a:solidFill>
              </a:rPr>
              <a:t>3</a:t>
            </a:r>
            <a:endParaRPr lang="en-US" sz="1400" dirty="0"/>
          </a:p>
        </p:txBody>
      </p:sp>
      <p:sp>
        <p:nvSpPr>
          <p:cNvPr id="14" name="Text 12"/>
          <p:cNvSpPr txBox="1"/>
          <p:nvPr/>
        </p:nvSpPr>
        <p:spPr>
          <a:xfrm>
            <a:off x="6995160" y="3511296"/>
            <a:ext cx="4434840" cy="621792"/>
          </a:xfrm>
          <a:prstGeom prst="rect">
            <a:avLst/>
          </a:prstGeom>
          <a:noFill/>
          <a:ln/>
        </p:spPr>
        <p:txBody>
          <a:bodyPr wrap="square" lIns="0" tIns="0" rIns="0" bIns="0" rtlCol="0" anchor="ctr"/>
          <a:lstStyle/>
          <a:p>
            <a:pPr marL="0" indent="0">
              <a:buNone/>
            </a:pPr>
            <a:r>
              <a:rPr lang="en-US" sz="1400" dirty="0">
                <a:solidFill>
                  <a:srgbClr val="FFFFFF"/>
                </a:solidFill>
              </a:rPr>
              <a:t>Check discount rules in the West region</a:t>
            </a:r>
            <a:endParaRPr lang="en-US" sz="1400" dirty="0"/>
          </a:p>
        </p:txBody>
      </p:sp>
      <p:sp>
        <p:nvSpPr>
          <p:cNvPr id="15" name="recommendation card"/>
          <p:cNvSpPr/>
          <p:nvPr/>
        </p:nvSpPr>
        <p:spPr>
          <a:xfrm>
            <a:off x="6309360" y="4261104"/>
            <a:ext cx="5212080" cy="621792"/>
          </a:xfrm>
          <a:prstGeom prst="roundRect">
            <a:avLst>
              <a:gd name="adj" fmla="val 11765"/>
            </a:avLst>
          </a:prstGeom>
          <a:solidFill>
            <a:srgbClr val="1D3A5C"/>
          </a:solidFill>
          <a:ln w="12700">
            <a:solidFill>
              <a:srgbClr val="1D3A5C"/>
            </a:solidFill>
            <a:prstDash val="solid"/>
          </a:ln>
        </p:spPr>
      </p:sp>
      <p:sp>
        <p:nvSpPr>
          <p:cNvPr id="16" name="Text 14"/>
          <p:cNvSpPr txBox="1"/>
          <p:nvPr/>
        </p:nvSpPr>
        <p:spPr>
          <a:xfrm>
            <a:off x="6400800" y="4352544"/>
            <a:ext cx="438912" cy="438912"/>
          </a:xfrm>
          <a:prstGeom prst="ellipse">
            <a:avLst/>
          </a:prstGeom>
          <a:solidFill>
            <a:srgbClr val="F28C28"/>
          </a:solidFill>
          <a:ln/>
        </p:spPr>
        <p:txBody>
          <a:bodyPr wrap="square" lIns="0" tIns="0" rIns="0" bIns="0" rtlCol="0" anchor="ctr"/>
          <a:lstStyle/>
          <a:p>
            <a:pPr marL="0" indent="0" algn="ctr">
              <a:buNone/>
            </a:pPr>
            <a:r>
              <a:rPr lang="en-US" sz="1400" b="1" dirty="0">
                <a:solidFill>
                  <a:srgbClr val="12263F"/>
                </a:solidFill>
              </a:rPr>
              <a:t>4</a:t>
            </a:r>
            <a:endParaRPr lang="en-US" sz="1400" dirty="0"/>
          </a:p>
        </p:txBody>
      </p:sp>
      <p:sp>
        <p:nvSpPr>
          <p:cNvPr id="17" name="Text 15"/>
          <p:cNvSpPr txBox="1"/>
          <p:nvPr/>
        </p:nvSpPr>
        <p:spPr>
          <a:xfrm>
            <a:off x="6995160" y="4261104"/>
            <a:ext cx="4434840" cy="621792"/>
          </a:xfrm>
          <a:prstGeom prst="rect">
            <a:avLst/>
          </a:prstGeom>
          <a:noFill/>
          <a:ln/>
        </p:spPr>
        <p:txBody>
          <a:bodyPr wrap="square" lIns="0" tIns="0" rIns="0" bIns="0" rtlCol="0" anchor="ctr"/>
          <a:lstStyle/>
          <a:p>
            <a:pPr marL="0" indent="0">
              <a:buNone/>
            </a:pPr>
            <a:r>
              <a:rPr lang="en-US" sz="1400" dirty="0">
                <a:solidFill>
                  <a:srgbClr val="FFFFFF"/>
                </a:solidFill>
              </a:rPr>
              <a:t>Look after repeat and top customers</a:t>
            </a:r>
            <a:endParaRPr lang="en-US" sz="1400" dirty="0"/>
          </a:p>
        </p:txBody>
      </p:sp>
      <p:sp>
        <p:nvSpPr>
          <p:cNvPr id="18" name="recommendation card"/>
          <p:cNvSpPr/>
          <p:nvPr/>
        </p:nvSpPr>
        <p:spPr>
          <a:xfrm>
            <a:off x="6309360" y="5010912"/>
            <a:ext cx="5212080" cy="621792"/>
          </a:xfrm>
          <a:prstGeom prst="roundRect">
            <a:avLst>
              <a:gd name="adj" fmla="val 11765"/>
            </a:avLst>
          </a:prstGeom>
          <a:solidFill>
            <a:srgbClr val="1D3A5C"/>
          </a:solidFill>
          <a:ln w="12700">
            <a:solidFill>
              <a:srgbClr val="1D3A5C"/>
            </a:solidFill>
            <a:prstDash val="solid"/>
          </a:ln>
        </p:spPr>
      </p:sp>
      <p:sp>
        <p:nvSpPr>
          <p:cNvPr id="19" name="Text 17"/>
          <p:cNvSpPr txBox="1"/>
          <p:nvPr/>
        </p:nvSpPr>
        <p:spPr>
          <a:xfrm>
            <a:off x="6400800" y="5102352"/>
            <a:ext cx="438912" cy="438912"/>
          </a:xfrm>
          <a:prstGeom prst="ellipse">
            <a:avLst/>
          </a:prstGeom>
          <a:solidFill>
            <a:srgbClr val="F28C28"/>
          </a:solidFill>
          <a:ln/>
        </p:spPr>
        <p:txBody>
          <a:bodyPr wrap="square" lIns="0" tIns="0" rIns="0" bIns="0" rtlCol="0" anchor="ctr"/>
          <a:lstStyle/>
          <a:p>
            <a:pPr marL="0" indent="0" algn="ctr">
              <a:buNone/>
            </a:pPr>
            <a:r>
              <a:rPr lang="en-US" sz="1400" b="1" dirty="0">
                <a:solidFill>
                  <a:srgbClr val="12263F"/>
                </a:solidFill>
              </a:rPr>
              <a:t>5</a:t>
            </a:r>
            <a:endParaRPr lang="en-US" sz="1400" dirty="0"/>
          </a:p>
        </p:txBody>
      </p:sp>
      <p:sp>
        <p:nvSpPr>
          <p:cNvPr id="20" name="Text 18"/>
          <p:cNvSpPr txBox="1"/>
          <p:nvPr/>
        </p:nvSpPr>
        <p:spPr>
          <a:xfrm>
            <a:off x="6995160" y="5010912"/>
            <a:ext cx="4434840" cy="621792"/>
          </a:xfrm>
          <a:prstGeom prst="rect">
            <a:avLst/>
          </a:prstGeom>
          <a:noFill/>
          <a:ln/>
        </p:spPr>
        <p:txBody>
          <a:bodyPr wrap="square" lIns="0" tIns="0" rIns="0" bIns="0" rtlCol="0" anchor="ctr"/>
          <a:lstStyle/>
          <a:p>
            <a:pPr marL="0" indent="0">
              <a:buNone/>
            </a:pPr>
            <a:r>
              <a:rPr lang="en-US" sz="1400" dirty="0">
                <a:solidFill>
                  <a:srgbClr val="FFFFFF"/>
                </a:solidFill>
              </a:rPr>
              <a:t>Keep enough stock for October to December</a:t>
            </a:r>
            <a:endParaRPr lang="en-US" sz="1400" dirty="0"/>
          </a:p>
        </p:txBody>
      </p:sp>
      <p:sp>
        <p:nvSpPr>
          <p:cNvPr id="21" name="Text 19"/>
          <p:cNvSpPr txBox="1"/>
          <p:nvPr/>
        </p:nvSpPr>
        <p:spPr>
          <a:xfrm>
            <a:off x="640080" y="6035040"/>
            <a:ext cx="10972800" cy="365760"/>
          </a:xfrm>
          <a:prstGeom prst="rect">
            <a:avLst/>
          </a:prstGeom>
          <a:noFill/>
          <a:ln/>
        </p:spPr>
        <p:txBody>
          <a:bodyPr wrap="square" lIns="0" tIns="0" rIns="0" bIns="0" rtlCol="0" anchor="ctr"/>
          <a:lstStyle/>
          <a:p>
            <a:pPr marL="0" indent="0">
              <a:buNone/>
            </a:pPr>
            <a:r>
              <a:rPr lang="en-US" sz="1400" i="1" dirty="0">
                <a:solidFill>
                  <a:srgbClr val="B8C7D6"/>
                </a:solidFill>
              </a:rPr>
              <a:t>Data used: sample dataset, not real company data.   Thank you</a:t>
            </a:r>
            <a:endParaRPr lang="en-US" sz="1400" dirty="0"/>
          </a:p>
        </p:txBody>
      </p:sp>
    </p:spTree>
  </p:cSld>
  <p:clrMapOvr>
    <a:masterClrMapping/>
  </p:clrMapOvr>
</p:sld>
</file>

<file path=ppt/theme/theme1.xml><?xml version="1.0" encoding="utf-8"?>
<a:theme xmlns:a="http://schemas.openxmlformats.org/drawingml/2006/main" name="Retail Analytics">
  <a:themeElements>
    <a:clrScheme name="Retail Analytics">
      <a:dk1>
        <a:srgbClr val="1B2A3A"/>
      </a:dk1>
      <a:lt1>
        <a:srgbClr val="FFFFFF"/>
      </a:lt1>
      <a:dk2>
        <a:srgbClr val="12263F"/>
      </a:dk2>
      <a:lt2>
        <a:srgbClr val="EEF3F7"/>
      </a:lt2>
      <a:accent1>
        <a:srgbClr val="1C7293"/>
      </a:accent1>
      <a:accent2>
        <a:srgbClr val="F28C28"/>
      </a:accent2>
      <a:accent3>
        <a:srgbClr val="2E9E6B"/>
      </a:accent3>
      <a:accent4>
        <a:srgbClr val="D64545"/>
      </a:accent4>
      <a:accent5>
        <a:srgbClr val="7A8CA3"/>
      </a:accent5>
      <a:accent6>
        <a:srgbClr val="4A6FA5"/>
      </a:accent6>
      <a:hlink>
        <a:srgbClr val="1C7293"/>
      </a:hlink>
      <a:folHlink>
        <a:srgbClr val="7A8CA3"/>
      </a:folHlink>
    </a:clrScheme>
    <a:fontScheme name="Retail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1041</Words>
  <Application>Microsoft Office PowerPoint</Application>
  <PresentationFormat>Widescreen</PresentationFormat>
  <Paragraphs>173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Retail Analytics</vt:lpstr>
      <vt:lpstr>PowerPoint Presentation</vt:lpstr>
      <vt:lpstr>Cleaning turned 9,989 rows into 9,872 usable rows</vt:lpstr>
      <vt:lpstr>Sales grew 30% in 2024 and 31% in 2025</vt:lpstr>
      <vt:lpstr>Profit is low in Furniture, the West region and big discounts</vt:lpstr>
      <vt:lpstr>75% of customers buy again, and some products lose money</vt:lpstr>
      <vt:lpstr>Power BI model: one Fact table and three small tables</vt:lpstr>
      <vt:lpstr>Dashboard 1: Executive view for the CEO</vt:lpstr>
      <vt:lpstr>Dashboard 2: Customers and products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&amp; Customer Performance Analysis</dc:title>
  <dc:subject>PptxGenJS Presentation</dc:subject>
  <dc:creator>Rushikesh Zine</dc:creator>
  <cp:lastModifiedBy>Rushikesh zine</cp:lastModifiedBy>
  <cp:revision>2</cp:revision>
  <dcterms:created xsi:type="dcterms:W3CDTF">2026-10-21T09:56:57Z</dcterms:created>
  <dcterms:modified xsi:type="dcterms:W3CDTF">2026-10-22T05:23:18Z</dcterms:modified>
</cp:coreProperties>
</file>